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B2B AI Business Ideas From The Codex Fluency Protocol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Products, recurring services, bottlenecks, and a 90-day path for a 40-hour work week</a:t>
            </a:r>
            <a:endParaRPr lang="en-US" sz="1100"/>
          </a:p>
        </p:txBody>
      </p:sp>
      <p:sp>
        <p:nvSpPr>
          <p:cNvPr id="6" name="Text 6"/>
          <p:cNvSpPr txBox="1"/>
          <p:nvPr/>
        </p:nvSpPr>
        <p:spPr>
          <a:xfrm>
            <a:off x="777240" y="16002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000"/>
            </a:pPr>
            <a:r>
              <a:rPr lang="en-US" sz="2000" b="1">
                <a:solidFill>
                  <a:srgbClr val="14213D"/>
                </a:solidFill>
              </a:rPr>
              <a:t>A practical business model deck for turning Codex fluency into scalable B2B offers.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1097280" y="2743200"/>
            <a:ext cx="22860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234439" y="28803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2EC4B6"/>
                </a:solidFill>
              </a:rPr>
              <a:t>AI Workflow Audit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1234439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best starting wedge</a:t>
            </a:r>
            <a:endParaRPr lang="en-US" sz="900"/>
          </a:p>
        </p:txBody>
      </p:sp>
      <p:sp>
        <p:nvSpPr>
          <p:cNvPr id="10" name="Shape 10"/>
          <p:cNvSpPr/>
          <p:nvPr/>
        </p:nvSpPr>
        <p:spPr>
          <a:xfrm>
            <a:off x="3749039" y="2743200"/>
            <a:ext cx="22860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886200" y="28803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4361EE"/>
                </a:solidFill>
              </a:rPr>
              <a:t>Managed AI Ops</a:t>
            </a:r>
            <a:endParaRPr lang="en-US" sz="2200"/>
          </a:p>
        </p:txBody>
      </p:sp>
      <p:sp>
        <p:nvSpPr>
          <p:cNvPr id="12" name="Text 12"/>
          <p:cNvSpPr txBox="1"/>
          <p:nvPr/>
        </p:nvSpPr>
        <p:spPr>
          <a:xfrm>
            <a:off x="3886200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recurring engine</a:t>
            </a:r>
            <a:endParaRPr lang="en-US" sz="900"/>
          </a:p>
        </p:txBody>
      </p:sp>
      <p:sp>
        <p:nvSpPr>
          <p:cNvPr id="13" name="Shape 13"/>
          <p:cNvSpPr/>
          <p:nvPr/>
        </p:nvSpPr>
        <p:spPr>
          <a:xfrm>
            <a:off x="6400800" y="2743200"/>
            <a:ext cx="22860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537960" y="28803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CA311"/>
                </a:solidFill>
              </a:rPr>
              <a:t>Skills + SOP IP</a:t>
            </a:r>
            <a:endParaRPr lang="en-US" sz="2200"/>
          </a:p>
        </p:txBody>
      </p:sp>
      <p:sp>
        <p:nvSpPr>
          <p:cNvPr id="15" name="Text 15"/>
          <p:cNvSpPr txBox="1"/>
          <p:nvPr/>
        </p:nvSpPr>
        <p:spPr>
          <a:xfrm>
            <a:off x="6537960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moat</a:t>
            </a:r>
            <a:endParaRPr lang="en-US" sz="900"/>
          </a:p>
        </p:txBody>
      </p:sp>
      <p:sp>
        <p:nvSpPr>
          <p:cNvPr id="16" name="Shape 16"/>
          <p:cNvSpPr/>
          <p:nvPr/>
        </p:nvSpPr>
        <p:spPr>
          <a:xfrm>
            <a:off x="9052560" y="2743200"/>
            <a:ext cx="22860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189720" y="28803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E76F51"/>
                </a:solidFill>
              </a:rPr>
              <a:t>40 hrs/week</a:t>
            </a:r>
            <a:endParaRPr lang="en-US" sz="2200"/>
          </a:p>
        </p:txBody>
      </p:sp>
      <p:sp>
        <p:nvSpPr>
          <p:cNvPr id="18" name="Text 18"/>
          <p:cNvSpPr txBox="1"/>
          <p:nvPr/>
        </p:nvSpPr>
        <p:spPr>
          <a:xfrm>
            <a:off x="9189720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constraint</a:t>
            </a:r>
            <a:endParaRPr lang="en-US" sz="900"/>
          </a:p>
        </p:txBody>
      </p:sp>
      <p:sp>
        <p:nvSpPr>
          <p:cNvPr id="19" name="Text 19"/>
          <p:cNvSpPr txBox="1"/>
          <p:nvPr/>
        </p:nvSpPr>
        <p:spPr>
          <a:xfrm>
            <a:off x="1143000" y="443484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300"/>
            </a:pPr>
            <a:r>
              <a:rPr lang="en-US" sz="1300">
                <a:solidFill>
                  <a:srgbClr val="1C1D21"/>
                </a:solidFill>
              </a:rPr>
              <a:t>Recommendation: start with fixed-fee audits, convert the best clients into recurring AI operations retainers, and productize every repeated workflow into reusable skills, templates, and governance checklists.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The Strategic Thesis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Use Codex to sell business outcomes, not generic AI enthusiasm.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640080" y="12344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40080" y="1234440"/>
            <a:ext cx="109728" cy="43891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41247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Why now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859536" y="1764792"/>
            <a:ext cx="3127248" cy="37490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Businesses are past curiosity; the gap is execution, workflow integration, and governance.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Agentic tools create value only when scoped, verified, and embedded into real operations.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Small specialist providers can win by being narrow, fast, and outcome-focused.</a:t>
            </a:r>
            <a:endParaRPr lang="en-US" sz="1000"/>
          </a:p>
        </p:txBody>
      </p:sp>
      <p:sp>
        <p:nvSpPr>
          <p:cNvPr id="10" name="Shape 10"/>
          <p:cNvSpPr/>
          <p:nvPr/>
        </p:nvSpPr>
        <p:spPr>
          <a:xfrm>
            <a:off x="4343400" y="12344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4343400" y="1234440"/>
            <a:ext cx="109728" cy="43891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544568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Why you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4562856" y="1764792"/>
            <a:ext cx="3127248" cy="37490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Codex lets one operator build assets, automate delivery, write SOPs, inspect systems, and create repeatable IP.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Your protocol builds the exact stack clients need: prompts, AGENTS.md, skills, MCP, automations, verification.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The business should compound through reusable delivery kits, not custom one-off labor.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8046720" y="12344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8046720" y="1234440"/>
            <a:ext cx="109728" cy="43891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247888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Where to compete</a:t>
            </a:r>
            <a:endParaRPr lang="en-US" sz="1400"/>
          </a:p>
        </p:txBody>
      </p:sp>
      <p:sp>
        <p:nvSpPr>
          <p:cNvPr id="17" name="Text 17"/>
          <p:cNvSpPr txBox="1"/>
          <p:nvPr/>
        </p:nvSpPr>
        <p:spPr>
          <a:xfrm>
            <a:off x="8266176" y="1764792"/>
            <a:ext cx="3127248" cy="37490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SMBs and mid-market teams with high manual coordination: agencies, professional services, SaaS ops, support, finance ops.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Departments with document-heavy workflows and measurable turnaround times.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Teams too small for enterprise consultancies but too busy to DIY AI implementation.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Protocol Capability Stack -&gt; Business Leverage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Each Codex skill area maps to a sellable B2B capability.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594360" y="1325880"/>
            <a:ext cx="10881359" cy="521207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30936" y="1399032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Protocol ability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2962656" y="1399032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Business leverage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6620255" y="1399032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Sellable artifact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94360" y="1847088"/>
            <a:ext cx="10881359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30936" y="1911095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Full file access</a:t>
            </a:r>
            <a:endParaRPr lang="en-US" sz="700"/>
          </a:p>
        </p:txBody>
      </p:sp>
      <p:sp>
        <p:nvSpPr>
          <p:cNvPr id="12" name="Text 12"/>
          <p:cNvSpPr txBox="1"/>
          <p:nvPr/>
        </p:nvSpPr>
        <p:spPr>
          <a:xfrm>
            <a:off x="2962656" y="1911095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Audit docs/repos/SOPs</a:t>
            </a:r>
            <a:endParaRPr lang="en-US" sz="700"/>
          </a:p>
        </p:txBody>
      </p:sp>
      <p:sp>
        <p:nvSpPr>
          <p:cNvPr id="13" name="Text 13"/>
          <p:cNvSpPr txBox="1"/>
          <p:nvPr/>
        </p:nvSpPr>
        <p:spPr>
          <a:xfrm>
            <a:off x="6620255" y="1911095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Workflow maps, backlog, cleanup plan</a:t>
            </a:r>
            <a:endParaRPr lang="en-US" sz="700"/>
          </a:p>
        </p:txBody>
      </p:sp>
      <p:sp>
        <p:nvSpPr>
          <p:cNvPr id="14" name="Shape 14"/>
          <p:cNvSpPr/>
          <p:nvPr/>
        </p:nvSpPr>
        <p:spPr>
          <a:xfrm>
            <a:off x="594360" y="2368296"/>
            <a:ext cx="10881359" cy="521207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30936" y="2432303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Persistent guidance</a:t>
            </a:r>
            <a:endParaRPr lang="en-US" sz="700"/>
          </a:p>
        </p:txBody>
      </p:sp>
      <p:sp>
        <p:nvSpPr>
          <p:cNvPr id="16" name="Text 16"/>
          <p:cNvSpPr txBox="1"/>
          <p:nvPr/>
        </p:nvSpPr>
        <p:spPr>
          <a:xfrm>
            <a:off x="2962656" y="2432303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Client-specific operating memory</a:t>
            </a:r>
            <a:endParaRPr lang="en-US" sz="700"/>
          </a:p>
        </p:txBody>
      </p:sp>
      <p:sp>
        <p:nvSpPr>
          <p:cNvPr id="17" name="Text 17"/>
          <p:cNvSpPr txBox="1"/>
          <p:nvPr/>
        </p:nvSpPr>
        <p:spPr>
          <a:xfrm>
            <a:off x="6620255" y="2432303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AGENTS.md, standards, review rubric</a:t>
            </a:r>
            <a:endParaRPr lang="en-US" sz="700"/>
          </a:p>
        </p:txBody>
      </p:sp>
      <p:sp>
        <p:nvSpPr>
          <p:cNvPr id="18" name="Shape 18"/>
          <p:cNvSpPr/>
          <p:nvPr/>
        </p:nvSpPr>
        <p:spPr>
          <a:xfrm>
            <a:off x="594360" y="2889503"/>
            <a:ext cx="10881359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30936" y="2953511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Plugins/connectors</a:t>
            </a:r>
            <a:endParaRPr lang="en-US" sz="700"/>
          </a:p>
        </p:txBody>
      </p:sp>
      <p:sp>
        <p:nvSpPr>
          <p:cNvPr id="20" name="Text 20"/>
          <p:cNvSpPr txBox="1"/>
          <p:nvPr/>
        </p:nvSpPr>
        <p:spPr>
          <a:xfrm>
            <a:off x="2962656" y="2953511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Work inside client tools</a:t>
            </a:r>
            <a:endParaRPr lang="en-US" sz="700"/>
          </a:p>
        </p:txBody>
      </p:sp>
      <p:sp>
        <p:nvSpPr>
          <p:cNvPr id="21" name="Text 21"/>
          <p:cNvSpPr txBox="1"/>
          <p:nvPr/>
        </p:nvSpPr>
        <p:spPr>
          <a:xfrm>
            <a:off x="6620255" y="2953511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Slack/GitHub/email/Drive workflows</a:t>
            </a:r>
            <a:endParaRPr lang="en-US" sz="700"/>
          </a:p>
        </p:txBody>
      </p:sp>
      <p:sp>
        <p:nvSpPr>
          <p:cNvPr id="22" name="Shape 22"/>
          <p:cNvSpPr/>
          <p:nvPr/>
        </p:nvSpPr>
        <p:spPr>
          <a:xfrm>
            <a:off x="594360" y="3410711"/>
            <a:ext cx="10881359" cy="521207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30936" y="3474719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Skills</a:t>
            </a:r>
            <a:endParaRPr lang="en-US" sz="700"/>
          </a:p>
        </p:txBody>
      </p:sp>
      <p:sp>
        <p:nvSpPr>
          <p:cNvPr id="24" name="Text 24"/>
          <p:cNvSpPr txBox="1"/>
          <p:nvPr/>
        </p:nvSpPr>
        <p:spPr>
          <a:xfrm>
            <a:off x="2962656" y="3474719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Package repeatable delivery</a:t>
            </a:r>
            <a:endParaRPr lang="en-US" sz="700"/>
          </a:p>
        </p:txBody>
      </p:sp>
      <p:sp>
        <p:nvSpPr>
          <p:cNvPr id="25" name="Text 25"/>
          <p:cNvSpPr txBox="1"/>
          <p:nvPr/>
        </p:nvSpPr>
        <p:spPr>
          <a:xfrm>
            <a:off x="6620255" y="3474719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Reusable IP, faster margins</a:t>
            </a:r>
            <a:endParaRPr lang="en-US" sz="700"/>
          </a:p>
        </p:txBody>
      </p:sp>
      <p:sp>
        <p:nvSpPr>
          <p:cNvPr id="26" name="Shape 26"/>
          <p:cNvSpPr/>
          <p:nvPr/>
        </p:nvSpPr>
        <p:spPr>
          <a:xfrm>
            <a:off x="594360" y="3931920"/>
            <a:ext cx="10881359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30936" y="3995928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Browser/computer/image</a:t>
            </a:r>
            <a:endParaRPr lang="en-US" sz="700"/>
          </a:p>
        </p:txBody>
      </p:sp>
      <p:sp>
        <p:nvSpPr>
          <p:cNvPr id="28" name="Text 28"/>
          <p:cNvSpPr txBox="1"/>
          <p:nvPr/>
        </p:nvSpPr>
        <p:spPr>
          <a:xfrm>
            <a:off x="2962656" y="3995928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Inspect UI, assets, web ops</a:t>
            </a:r>
            <a:endParaRPr lang="en-US" sz="700"/>
          </a:p>
        </p:txBody>
      </p:sp>
      <p:sp>
        <p:nvSpPr>
          <p:cNvPr id="29" name="Text 29"/>
          <p:cNvSpPr txBox="1"/>
          <p:nvPr/>
        </p:nvSpPr>
        <p:spPr>
          <a:xfrm>
            <a:off x="6620255" y="3995928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QA, training visuals, demos</a:t>
            </a:r>
            <a:endParaRPr lang="en-US" sz="700"/>
          </a:p>
        </p:txBody>
      </p:sp>
      <p:sp>
        <p:nvSpPr>
          <p:cNvPr id="30" name="Shape 30"/>
          <p:cNvSpPr/>
          <p:nvPr/>
        </p:nvSpPr>
        <p:spPr>
          <a:xfrm>
            <a:off x="594360" y="4453128"/>
            <a:ext cx="10881359" cy="521207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30936" y="4517136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Automations</a:t>
            </a:r>
            <a:endParaRPr lang="en-US" sz="700"/>
          </a:p>
        </p:txBody>
      </p:sp>
      <p:sp>
        <p:nvSpPr>
          <p:cNvPr id="32" name="Text 32"/>
          <p:cNvSpPr txBox="1"/>
          <p:nvPr/>
        </p:nvSpPr>
        <p:spPr>
          <a:xfrm>
            <a:off x="2962656" y="4517136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Recurring managed outcomes</a:t>
            </a:r>
            <a:endParaRPr lang="en-US" sz="700"/>
          </a:p>
        </p:txBody>
      </p:sp>
      <p:sp>
        <p:nvSpPr>
          <p:cNvPr id="33" name="Text 33"/>
          <p:cNvSpPr txBox="1"/>
          <p:nvPr/>
        </p:nvSpPr>
        <p:spPr>
          <a:xfrm>
            <a:off x="6620255" y="4517136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Monthly retainer and monitoring</a:t>
            </a:r>
            <a:endParaRPr lang="en-US" sz="700"/>
          </a:p>
        </p:txBody>
      </p:sp>
      <p:sp>
        <p:nvSpPr>
          <p:cNvPr id="34" name="Shape 34"/>
          <p:cNvSpPr/>
          <p:nvPr/>
        </p:nvSpPr>
        <p:spPr>
          <a:xfrm>
            <a:off x="594360" y="4974336"/>
            <a:ext cx="10881359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30936" y="5038344"/>
            <a:ext cx="225856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Hooks/evals</a:t>
            </a:r>
            <a:endParaRPr lang="en-US" sz="700"/>
          </a:p>
        </p:txBody>
      </p:sp>
      <p:sp>
        <p:nvSpPr>
          <p:cNvPr id="36" name="Text 36"/>
          <p:cNvSpPr txBox="1"/>
          <p:nvPr/>
        </p:nvSpPr>
        <p:spPr>
          <a:xfrm>
            <a:off x="2962656" y="5038344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Guardrails and verification</a:t>
            </a:r>
            <a:endParaRPr lang="en-US" sz="700"/>
          </a:p>
        </p:txBody>
      </p:sp>
      <p:sp>
        <p:nvSpPr>
          <p:cNvPr id="37" name="Text 37"/>
          <p:cNvSpPr txBox="1"/>
          <p:nvPr/>
        </p:nvSpPr>
        <p:spPr>
          <a:xfrm>
            <a:off x="6620255" y="5038344"/>
            <a:ext cx="4818888" cy="4297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Trust layer for B2B buyers</a:t>
            </a:r>
            <a:endParaRPr lang="en-US" sz="700"/>
          </a:p>
        </p:txBody>
      </p:sp>
      <p:sp>
        <p:nvSpPr>
          <p:cNvPr id="38" name="Text 38"/>
          <p:cNvSpPr txBox="1"/>
          <p:nvPr/>
        </p:nvSpPr>
        <p:spPr>
          <a:xfrm>
            <a:off x="777240" y="57607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14213D"/>
                </a:solidFill>
              </a:rPr>
              <a:t>Key move: every client engagement should leave behind one reusable component: a checklist, skill, prompt library, MCP pattern, QA script, or automation template.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Market Reality: Demand Is High, Execution Is The Pain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This favors offers that include governance, verification, and implementation.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777240" y="1325880"/>
            <a:ext cx="2560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14400" y="146303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E76F51"/>
                </a:solidFill>
              </a:rPr>
              <a:t>Execution &gt; adoption</a:t>
            </a:r>
            <a:endParaRPr lang="en-US" sz="2200"/>
          </a:p>
        </p:txBody>
      </p:sp>
      <p:sp>
        <p:nvSpPr>
          <p:cNvPr id="8" name="Text 8"/>
          <p:cNvSpPr txBox="1"/>
          <p:nvPr/>
        </p:nvSpPr>
        <p:spPr>
          <a:xfrm>
            <a:off x="914400" y="191109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AI execution gap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3611880" y="1325880"/>
            <a:ext cx="2560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749040" y="146303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2EC4B6"/>
                </a:solidFill>
              </a:rPr>
              <a:t>Governed workflows</a:t>
            </a:r>
            <a:endParaRPr lang="en-US" sz="2200"/>
          </a:p>
        </p:txBody>
      </p:sp>
      <p:sp>
        <p:nvSpPr>
          <p:cNvPr id="11" name="Text 11"/>
          <p:cNvSpPr txBox="1"/>
          <p:nvPr/>
        </p:nvSpPr>
        <p:spPr>
          <a:xfrm>
            <a:off x="3749040" y="191109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enterprise need</a:t>
            </a:r>
            <a:endParaRPr lang="en-US" sz="900"/>
          </a:p>
        </p:txBody>
      </p:sp>
      <p:sp>
        <p:nvSpPr>
          <p:cNvPr id="12" name="Shape 12"/>
          <p:cNvSpPr/>
          <p:nvPr/>
        </p:nvSpPr>
        <p:spPr>
          <a:xfrm>
            <a:off x="6446520" y="1325880"/>
            <a:ext cx="2560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583680" y="146303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4361EE"/>
                </a:solidFill>
              </a:rPr>
              <a:t>Narrow use cases</a:t>
            </a:r>
            <a:endParaRPr lang="en-US" sz="2200"/>
          </a:p>
        </p:txBody>
      </p:sp>
      <p:sp>
        <p:nvSpPr>
          <p:cNvPr id="14" name="Text 14"/>
          <p:cNvSpPr txBox="1"/>
          <p:nvPr/>
        </p:nvSpPr>
        <p:spPr>
          <a:xfrm>
            <a:off x="6583680" y="191109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winning posture</a:t>
            </a:r>
            <a:endParaRPr lang="en-US" sz="900"/>
          </a:p>
        </p:txBody>
      </p:sp>
      <p:sp>
        <p:nvSpPr>
          <p:cNvPr id="15" name="Shape 15"/>
          <p:cNvSpPr/>
          <p:nvPr/>
        </p:nvSpPr>
        <p:spPr>
          <a:xfrm>
            <a:off x="9281160" y="1325880"/>
            <a:ext cx="2560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9418320" y="146303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CA311"/>
                </a:solidFill>
              </a:rPr>
              <a:t>Productized delivery</a:t>
            </a:r>
            <a:endParaRPr lang="en-US" sz="2200"/>
          </a:p>
        </p:txBody>
      </p:sp>
      <p:sp>
        <p:nvSpPr>
          <p:cNvPr id="17" name="Text 17"/>
          <p:cNvSpPr txBox="1"/>
          <p:nvPr/>
        </p:nvSpPr>
        <p:spPr>
          <a:xfrm>
            <a:off x="9418320" y="191109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900"/>
            </a:pPr>
            <a:r>
              <a:rPr lang="en-US" sz="900">
                <a:solidFill>
                  <a:srgbClr val="5C6672"/>
                </a:solidFill>
              </a:rPr>
              <a:t>solo constraint</a:t>
            </a:r>
            <a:endParaRPr lang="en-US" sz="900"/>
          </a:p>
        </p:txBody>
      </p:sp>
      <p:sp>
        <p:nvSpPr>
          <p:cNvPr id="18" name="Shape 18"/>
          <p:cNvSpPr/>
          <p:nvPr/>
        </p:nvSpPr>
        <p:spPr>
          <a:xfrm>
            <a:off x="868680" y="2788920"/>
            <a:ext cx="48920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868680" y="2788920"/>
            <a:ext cx="109728" cy="2743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069848" y="292607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Implication for offers</a:t>
            </a:r>
            <a:endParaRPr lang="en-US" sz="1400"/>
          </a:p>
        </p:txBody>
      </p:sp>
      <p:sp>
        <p:nvSpPr>
          <p:cNvPr id="21" name="Text 21"/>
          <p:cNvSpPr txBox="1"/>
          <p:nvPr/>
        </p:nvSpPr>
        <p:spPr>
          <a:xfrm>
            <a:off x="1088136" y="3319272"/>
            <a:ext cx="4544568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Avoid broad 'AI transformation' positioning.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Sell a specific workflow outcome with before/after metrics.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Lead with risk control: human approval, audit trail, rollback path.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Use recurring services for maintenance, drift checks, and improvement loops.</a:t>
            </a:r>
            <a:endParaRPr lang="en-US" sz="1000"/>
          </a:p>
        </p:txBody>
      </p:sp>
      <p:sp>
        <p:nvSpPr>
          <p:cNvPr id="22" name="Shape 22"/>
          <p:cNvSpPr/>
          <p:nvPr/>
        </p:nvSpPr>
        <p:spPr>
          <a:xfrm>
            <a:off x="6263640" y="2788920"/>
            <a:ext cx="48920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6263640" y="2788920"/>
            <a:ext cx="109728" cy="27432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464807" y="292607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Implication for sales</a:t>
            </a:r>
            <a:endParaRPr lang="en-US" sz="1400"/>
          </a:p>
        </p:txBody>
      </p:sp>
      <p:sp>
        <p:nvSpPr>
          <p:cNvPr id="25" name="Text 25"/>
          <p:cNvSpPr txBox="1"/>
          <p:nvPr/>
        </p:nvSpPr>
        <p:spPr>
          <a:xfrm>
            <a:off x="6483096" y="3319272"/>
            <a:ext cx="4544568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Buyer pain: time, manual handoffs, inconsistent output, tool sprawl.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Proof beats hype: demo with their documents or a sanitized workflow.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Fastest close: fixed-scope diagnostic with obvious next-step retainer.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Best niches: teams already paying for tools but not seeing workflow ROI.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40-Hour Work Week Operating Model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Design the business so time does not become the ceiling.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822960" y="1371600"/>
            <a:ext cx="106070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097280" y="1874519"/>
            <a:ext cx="1828800" cy="1783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188720" y="21488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FFFFF"/>
                </a:solidFill>
              </a:rPr>
              <a:t>14h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1188720" y="26517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 b="1">
                <a:solidFill>
                  <a:srgbClr val="FFFFFF"/>
                </a:solidFill>
              </a:rPr>
              <a:t>Delivery</a:t>
            </a:r>
            <a:endParaRPr lang="en-US" sz="1100"/>
          </a:p>
        </p:txBody>
      </p:sp>
      <p:sp>
        <p:nvSpPr>
          <p:cNvPr id="10" name="Text 10"/>
          <p:cNvSpPr txBox="1"/>
          <p:nvPr/>
        </p:nvSpPr>
        <p:spPr>
          <a:xfrm>
            <a:off x="1234439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700"/>
            </a:pPr>
            <a:r>
              <a:rPr lang="en-US" sz="700">
                <a:solidFill>
                  <a:srgbClr val="FFFFFF"/>
                </a:solidFill>
              </a:rPr>
              <a:t>client work, audits, builds, reviews</a:t>
            </a:r>
            <a:endParaRPr lang="en-US" sz="700"/>
          </a:p>
        </p:txBody>
      </p:sp>
      <p:sp>
        <p:nvSpPr>
          <p:cNvPr id="11" name="Shape 11"/>
          <p:cNvSpPr/>
          <p:nvPr/>
        </p:nvSpPr>
        <p:spPr>
          <a:xfrm>
            <a:off x="3154680" y="1874519"/>
            <a:ext cx="1828800" cy="178308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3246120" y="21488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FFFFF"/>
                </a:solidFill>
              </a:rPr>
              <a:t>8h</a:t>
            </a:r>
            <a:endParaRPr lang="en-US" sz="2200"/>
          </a:p>
        </p:txBody>
      </p:sp>
      <p:sp>
        <p:nvSpPr>
          <p:cNvPr id="13" name="Text 13"/>
          <p:cNvSpPr txBox="1"/>
          <p:nvPr/>
        </p:nvSpPr>
        <p:spPr>
          <a:xfrm>
            <a:off x="3246120" y="26517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 b="1">
                <a:solidFill>
                  <a:srgbClr val="FFFFFF"/>
                </a:solidFill>
              </a:rPr>
              <a:t>Sales</a:t>
            </a:r>
            <a:endParaRPr lang="en-US" sz="1100"/>
          </a:p>
        </p:txBody>
      </p:sp>
      <p:sp>
        <p:nvSpPr>
          <p:cNvPr id="14" name="Text 14"/>
          <p:cNvSpPr txBox="1"/>
          <p:nvPr/>
        </p:nvSpPr>
        <p:spPr>
          <a:xfrm>
            <a:off x="3291840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700"/>
            </a:pPr>
            <a:r>
              <a:rPr lang="en-US" sz="700">
                <a:solidFill>
                  <a:srgbClr val="FFFFFF"/>
                </a:solidFill>
              </a:rPr>
              <a:t>outreach, discovery, proposals</a:t>
            </a:r>
            <a:endParaRPr lang="en-US" sz="700"/>
          </a:p>
        </p:txBody>
      </p:sp>
      <p:sp>
        <p:nvSpPr>
          <p:cNvPr id="15" name="Shape 15"/>
          <p:cNvSpPr/>
          <p:nvPr/>
        </p:nvSpPr>
        <p:spPr>
          <a:xfrm>
            <a:off x="5212080" y="1874519"/>
            <a:ext cx="1828800" cy="178308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303520" y="21488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FFFFF"/>
                </a:solidFill>
              </a:rPr>
              <a:t>8h</a:t>
            </a:r>
            <a:endParaRPr lang="en-US" sz="2200"/>
          </a:p>
        </p:txBody>
      </p:sp>
      <p:sp>
        <p:nvSpPr>
          <p:cNvPr id="17" name="Text 17"/>
          <p:cNvSpPr txBox="1"/>
          <p:nvPr/>
        </p:nvSpPr>
        <p:spPr>
          <a:xfrm>
            <a:off x="5303520" y="26517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 b="1">
                <a:solidFill>
                  <a:srgbClr val="FFFFFF"/>
                </a:solidFill>
              </a:rPr>
              <a:t>Productization</a:t>
            </a:r>
            <a:endParaRPr lang="en-US" sz="1100"/>
          </a:p>
        </p:txBody>
      </p:sp>
      <p:sp>
        <p:nvSpPr>
          <p:cNvPr id="18" name="Text 18"/>
          <p:cNvSpPr txBox="1"/>
          <p:nvPr/>
        </p:nvSpPr>
        <p:spPr>
          <a:xfrm>
            <a:off x="5349240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700"/>
            </a:pPr>
            <a:r>
              <a:rPr lang="en-US" sz="700">
                <a:solidFill>
                  <a:srgbClr val="FFFFFF"/>
                </a:solidFill>
              </a:rPr>
              <a:t>templates, skills, automations</a:t>
            </a:r>
            <a:endParaRPr lang="en-US" sz="700"/>
          </a:p>
        </p:txBody>
      </p:sp>
      <p:sp>
        <p:nvSpPr>
          <p:cNvPr id="19" name="Shape 19"/>
          <p:cNvSpPr/>
          <p:nvPr/>
        </p:nvSpPr>
        <p:spPr>
          <a:xfrm>
            <a:off x="7269480" y="1874519"/>
            <a:ext cx="1828800" cy="1783080"/>
          </a:xfrm>
          <a:prstGeom prst="roundRect">
            <a:avLst/>
          </a:prstGeom>
          <a:solidFill>
            <a:srgbClr val="43AA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360920" y="21488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FFFFF"/>
                </a:solidFill>
              </a:rPr>
              <a:t>5h</a:t>
            </a:r>
            <a:endParaRPr lang="en-US" sz="2200"/>
          </a:p>
        </p:txBody>
      </p:sp>
      <p:sp>
        <p:nvSpPr>
          <p:cNvPr id="21" name="Text 21"/>
          <p:cNvSpPr txBox="1"/>
          <p:nvPr/>
        </p:nvSpPr>
        <p:spPr>
          <a:xfrm>
            <a:off x="7360920" y="26517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 b="1">
                <a:solidFill>
                  <a:srgbClr val="FFFFFF"/>
                </a:solidFill>
              </a:rPr>
              <a:t>Learning/R&amp;D</a:t>
            </a:r>
            <a:endParaRPr lang="en-US" sz="1100"/>
          </a:p>
        </p:txBody>
      </p:sp>
      <p:sp>
        <p:nvSpPr>
          <p:cNvPr id="22" name="Text 22"/>
          <p:cNvSpPr txBox="1"/>
          <p:nvPr/>
        </p:nvSpPr>
        <p:spPr>
          <a:xfrm>
            <a:off x="7406640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700"/>
            </a:pPr>
            <a:r>
              <a:rPr lang="en-US" sz="700">
                <a:solidFill>
                  <a:srgbClr val="FFFFFF"/>
                </a:solidFill>
              </a:rPr>
              <a:t>Codex practice, tool testing</a:t>
            </a:r>
            <a:endParaRPr lang="en-US" sz="700"/>
          </a:p>
        </p:txBody>
      </p:sp>
      <p:sp>
        <p:nvSpPr>
          <p:cNvPr id="23" name="Shape 23"/>
          <p:cNvSpPr/>
          <p:nvPr/>
        </p:nvSpPr>
        <p:spPr>
          <a:xfrm>
            <a:off x="9326880" y="1874519"/>
            <a:ext cx="1828800" cy="17830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418319" y="21488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2200"/>
            </a:pPr>
            <a:r>
              <a:rPr lang="en-US" sz="2200" b="1">
                <a:solidFill>
                  <a:srgbClr val="FFFFFF"/>
                </a:solidFill>
              </a:rPr>
              <a:t>5h</a:t>
            </a:r>
            <a:endParaRPr lang="en-US" sz="2200"/>
          </a:p>
        </p:txBody>
      </p:sp>
      <p:sp>
        <p:nvSpPr>
          <p:cNvPr id="25" name="Text 25"/>
          <p:cNvSpPr txBox="1"/>
          <p:nvPr/>
        </p:nvSpPr>
        <p:spPr>
          <a:xfrm>
            <a:off x="9418319" y="26517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 b="1">
                <a:solidFill>
                  <a:srgbClr val="FFFFFF"/>
                </a:solidFill>
              </a:rPr>
              <a:t>Admin</a:t>
            </a:r>
            <a:endParaRPr lang="en-US" sz="1100"/>
          </a:p>
        </p:txBody>
      </p:sp>
      <p:sp>
        <p:nvSpPr>
          <p:cNvPr id="26" name="Text 26"/>
          <p:cNvSpPr txBox="1"/>
          <p:nvPr/>
        </p:nvSpPr>
        <p:spPr>
          <a:xfrm>
            <a:off x="9464040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700"/>
            </a:pPr>
            <a:r>
              <a:rPr lang="en-US" sz="700">
                <a:solidFill>
                  <a:srgbClr val="FFFFFF"/>
                </a:solidFill>
              </a:rPr>
              <a:t>billing, CRM, docs, follow-up</a:t>
            </a:r>
            <a:endParaRPr lang="en-US" sz="700"/>
          </a:p>
        </p:txBody>
      </p:sp>
      <p:sp>
        <p:nvSpPr>
          <p:cNvPr id="27" name="Text 27"/>
          <p:cNvSpPr txBox="1"/>
          <p:nvPr/>
        </p:nvSpPr>
        <p:spPr>
          <a:xfrm>
            <a:off x="1143000" y="443484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300"/>
            </a:pPr>
            <a:r>
              <a:rPr lang="en-US" sz="1300" b="1">
                <a:solidFill>
                  <a:srgbClr val="14213D"/>
                </a:solidFill>
              </a:rPr>
              <a:t>Rule of thumb: do not carry more than 2 implementation clients or 5 light retainer clients until the reusable assets remove at least 40% of delivery time.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Offer Ladder: From Fixed Product To Recurring Revenue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B2B buyers trust small, concrete entry points before ongoing retainers.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685800" y="1463040"/>
            <a:ext cx="26060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463040"/>
            <a:ext cx="2606040" cy="50292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15727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FFFFFF"/>
                </a:solidFill>
              </a:rPr>
              <a:t>1. Diagnostic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868680" y="22402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600"/>
            </a:pPr>
            <a:r>
              <a:rPr lang="en-US" sz="1600" b="1">
                <a:solidFill>
                  <a:srgbClr val="2EC4B6"/>
                </a:solidFill>
              </a:rPr>
              <a:t>$1.5k-$5k fixed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941832" y="2834640"/>
            <a:ext cx="2057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>
                <a:solidFill>
                  <a:srgbClr val="1C1D21"/>
                </a:solidFill>
              </a:rPr>
              <a:t>AI Workflow Audit + opportunity map</a:t>
            </a:r>
            <a:endParaRPr lang="en-US" sz="1100"/>
          </a:p>
        </p:txBody>
      </p:sp>
      <p:sp>
        <p:nvSpPr>
          <p:cNvPr id="11" name="Text 11"/>
          <p:cNvSpPr txBox="1"/>
          <p:nvPr/>
        </p:nvSpPr>
        <p:spPr>
          <a:xfrm>
            <a:off x="914400" y="434340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Primary goal: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reduce buyer risk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and create upsell proof.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3566160" y="1463040"/>
            <a:ext cx="26060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3566160" y="1463040"/>
            <a:ext cx="2606040" cy="50292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3703320" y="15727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FFFFFF"/>
                </a:solidFill>
              </a:rPr>
              <a:t>2. Implementation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3749039" y="22402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600"/>
            </a:pPr>
            <a:r>
              <a:rPr lang="en-US" sz="1600" b="1">
                <a:solidFill>
                  <a:srgbClr val="2EC4B6"/>
                </a:solidFill>
              </a:rPr>
              <a:t>$5k-$20k fixed</a:t>
            </a:r>
            <a:endParaRPr lang="en-US" sz="1600"/>
          </a:p>
        </p:txBody>
      </p:sp>
      <p:sp>
        <p:nvSpPr>
          <p:cNvPr id="16" name="Text 16"/>
          <p:cNvSpPr txBox="1"/>
          <p:nvPr/>
        </p:nvSpPr>
        <p:spPr>
          <a:xfrm>
            <a:off x="3822191" y="2834640"/>
            <a:ext cx="2057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>
                <a:solidFill>
                  <a:srgbClr val="1C1D21"/>
                </a:solidFill>
              </a:rPr>
              <a:t>1-3 workflows built, documented, verified</a:t>
            </a:r>
            <a:endParaRPr lang="en-US" sz="1100"/>
          </a:p>
        </p:txBody>
      </p:sp>
      <p:sp>
        <p:nvSpPr>
          <p:cNvPr id="17" name="Text 17"/>
          <p:cNvSpPr txBox="1"/>
          <p:nvPr/>
        </p:nvSpPr>
        <p:spPr>
          <a:xfrm>
            <a:off x="3794760" y="434340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Primary goal: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reduce buyer risk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and create upsell proof.</a:t>
            </a:r>
            <a:endParaRPr lang="en-US" sz="800"/>
          </a:p>
        </p:txBody>
      </p:sp>
      <p:sp>
        <p:nvSpPr>
          <p:cNvPr id="18" name="Shape 18"/>
          <p:cNvSpPr/>
          <p:nvPr/>
        </p:nvSpPr>
        <p:spPr>
          <a:xfrm>
            <a:off x="6446520" y="1463040"/>
            <a:ext cx="26060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6446520" y="1463040"/>
            <a:ext cx="2606040" cy="50292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6583680" y="15727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FFFFFF"/>
                </a:solidFill>
              </a:rPr>
              <a:t>3. Managed Ops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6629400" y="22402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600"/>
            </a:pPr>
            <a:r>
              <a:rPr lang="en-US" sz="1600" b="1">
                <a:solidFill>
                  <a:srgbClr val="2EC4B6"/>
                </a:solidFill>
              </a:rPr>
              <a:t>$2k-$10k/mo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6702552" y="2834640"/>
            <a:ext cx="2057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>
                <a:solidFill>
                  <a:srgbClr val="1C1D21"/>
                </a:solidFill>
              </a:rPr>
              <a:t>monitor, improve, train, govern</a:t>
            </a:r>
            <a:endParaRPr lang="en-US" sz="1100"/>
          </a:p>
        </p:txBody>
      </p:sp>
      <p:sp>
        <p:nvSpPr>
          <p:cNvPr id="23" name="Text 23"/>
          <p:cNvSpPr txBox="1"/>
          <p:nvPr/>
        </p:nvSpPr>
        <p:spPr>
          <a:xfrm>
            <a:off x="6675120" y="434340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Primary goal: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reduce buyer risk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and create upsell proof.</a:t>
            </a:r>
            <a:endParaRPr lang="en-US" sz="800"/>
          </a:p>
        </p:txBody>
      </p:sp>
      <p:sp>
        <p:nvSpPr>
          <p:cNvPr id="24" name="Shape 24"/>
          <p:cNvSpPr/>
          <p:nvPr/>
        </p:nvSpPr>
        <p:spPr>
          <a:xfrm>
            <a:off x="9326880" y="1463040"/>
            <a:ext cx="26060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9326880" y="1463040"/>
            <a:ext cx="2606040" cy="50292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9464040" y="15727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FFFFFF"/>
                </a:solidFill>
              </a:rPr>
              <a:t>4. IP Licensing</a:t>
            </a:r>
            <a:endParaRPr lang="en-US" sz="1200"/>
          </a:p>
        </p:txBody>
      </p:sp>
      <p:sp>
        <p:nvSpPr>
          <p:cNvPr id="27" name="Text 27"/>
          <p:cNvSpPr txBox="1"/>
          <p:nvPr/>
        </p:nvSpPr>
        <p:spPr>
          <a:xfrm>
            <a:off x="9509759" y="22402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600"/>
            </a:pPr>
            <a:r>
              <a:rPr lang="en-US" sz="1600" b="1">
                <a:solidFill>
                  <a:srgbClr val="2EC4B6"/>
                </a:solidFill>
              </a:rPr>
              <a:t>$500-$3k/mo</a:t>
            </a:r>
            <a:endParaRPr lang="en-US" sz="1600"/>
          </a:p>
        </p:txBody>
      </p:sp>
      <p:sp>
        <p:nvSpPr>
          <p:cNvPr id="28" name="Text 28"/>
          <p:cNvSpPr txBox="1"/>
          <p:nvPr/>
        </p:nvSpPr>
        <p:spPr>
          <a:xfrm>
            <a:off x="9582911" y="2834640"/>
            <a:ext cx="205740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100"/>
            </a:pPr>
            <a:r>
              <a:rPr lang="en-US" sz="1100">
                <a:solidFill>
                  <a:srgbClr val="1C1D21"/>
                </a:solidFill>
              </a:rPr>
              <a:t>templates, skill packs, SOP kits</a:t>
            </a:r>
            <a:endParaRPr lang="en-US" sz="1100"/>
          </a:p>
        </p:txBody>
      </p:sp>
      <p:sp>
        <p:nvSpPr>
          <p:cNvPr id="29" name="Text 29"/>
          <p:cNvSpPr txBox="1"/>
          <p:nvPr/>
        </p:nvSpPr>
        <p:spPr>
          <a:xfrm>
            <a:off x="9555480" y="434340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Primary goal: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reduce buyer risk</a:t>
            </a:r>
            <a:endParaRPr lang="en-US" sz="800"/>
          </a:p>
          <a:p>
            <a:pPr algn="c">
              <a:defRPr sz="800"/>
            </a:pPr>
            <a:r>
              <a:rPr lang="en-US" sz="800">
                <a:solidFill>
                  <a:srgbClr val="5C6672"/>
                </a:solidFill>
              </a:rPr>
              <a:t>and create upsell proof.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Fixed-Cost Products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Productized offers that can be scoped, sold, and delivered repeatedly.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411480" y="1261872"/>
            <a:ext cx="11292840" cy="6126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448056" y="1335024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Product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2596896" y="1335024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Price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3739896" y="1335024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Duration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4791456" y="1335024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Ideal buyer</a:t>
            </a:r>
            <a:endParaRPr lang="en-US" sz="800"/>
          </a:p>
        </p:txBody>
      </p:sp>
      <p:sp>
        <p:nvSpPr>
          <p:cNvPr id="11" name="Text 11"/>
          <p:cNvSpPr txBox="1"/>
          <p:nvPr/>
        </p:nvSpPr>
        <p:spPr>
          <a:xfrm>
            <a:off x="6665976" y="1335024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Deliverables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411480" y="1874519"/>
            <a:ext cx="11292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48056" y="1938527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Workflow Audit Kit</a:t>
            </a:r>
            <a:endParaRPr lang="en-US" sz="700"/>
          </a:p>
        </p:txBody>
      </p:sp>
      <p:sp>
        <p:nvSpPr>
          <p:cNvPr id="14" name="Text 14"/>
          <p:cNvSpPr txBox="1"/>
          <p:nvPr/>
        </p:nvSpPr>
        <p:spPr>
          <a:xfrm>
            <a:off x="2596896" y="1938527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$1.5k-$5k</a:t>
            </a:r>
            <a:endParaRPr lang="en-US" sz="700"/>
          </a:p>
        </p:txBody>
      </p:sp>
      <p:sp>
        <p:nvSpPr>
          <p:cNvPr id="15" name="Text 15"/>
          <p:cNvSpPr txBox="1"/>
          <p:nvPr/>
        </p:nvSpPr>
        <p:spPr>
          <a:xfrm>
            <a:off x="3739896" y="1938527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7-10 days</a:t>
            </a:r>
            <a:endParaRPr lang="en-US" sz="700"/>
          </a:p>
        </p:txBody>
      </p:sp>
      <p:sp>
        <p:nvSpPr>
          <p:cNvPr id="16" name="Text 16"/>
          <p:cNvSpPr txBox="1"/>
          <p:nvPr/>
        </p:nvSpPr>
        <p:spPr>
          <a:xfrm>
            <a:off x="4791456" y="1938527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SMB ops / agencies</a:t>
            </a:r>
            <a:endParaRPr lang="en-US" sz="700"/>
          </a:p>
        </p:txBody>
      </p:sp>
      <p:sp>
        <p:nvSpPr>
          <p:cNvPr id="17" name="Text 17"/>
          <p:cNvSpPr txBox="1"/>
          <p:nvPr/>
        </p:nvSpPr>
        <p:spPr>
          <a:xfrm>
            <a:off x="6665976" y="1938527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Report, ROI map, 3 automation candidates</a:t>
            </a:r>
            <a:endParaRPr lang="en-US" sz="700"/>
          </a:p>
        </p:txBody>
      </p:sp>
      <p:sp>
        <p:nvSpPr>
          <p:cNvPr id="18" name="Shape 18"/>
          <p:cNvSpPr/>
          <p:nvPr/>
        </p:nvSpPr>
        <p:spPr>
          <a:xfrm>
            <a:off x="411480" y="2487168"/>
            <a:ext cx="11292840" cy="612648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48056" y="2551175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Ops Starter Pack</a:t>
            </a:r>
            <a:endParaRPr lang="en-US" sz="700"/>
          </a:p>
        </p:txBody>
      </p:sp>
      <p:sp>
        <p:nvSpPr>
          <p:cNvPr id="20" name="Text 20"/>
          <p:cNvSpPr txBox="1"/>
          <p:nvPr/>
        </p:nvSpPr>
        <p:spPr>
          <a:xfrm>
            <a:off x="2596896" y="2551175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$5k-$15k</a:t>
            </a:r>
            <a:endParaRPr lang="en-US" sz="700"/>
          </a:p>
        </p:txBody>
      </p:sp>
      <p:sp>
        <p:nvSpPr>
          <p:cNvPr id="21" name="Text 21"/>
          <p:cNvSpPr txBox="1"/>
          <p:nvPr/>
        </p:nvSpPr>
        <p:spPr>
          <a:xfrm>
            <a:off x="3739896" y="2551175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2-3 weeks</a:t>
            </a:r>
            <a:endParaRPr lang="en-US" sz="700"/>
          </a:p>
        </p:txBody>
      </p:sp>
      <p:sp>
        <p:nvSpPr>
          <p:cNvPr id="22" name="Text 22"/>
          <p:cNvSpPr txBox="1"/>
          <p:nvPr/>
        </p:nvSpPr>
        <p:spPr>
          <a:xfrm>
            <a:off x="4791456" y="2551175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Teams with scattered SOPs</a:t>
            </a:r>
            <a:endParaRPr lang="en-US" sz="700"/>
          </a:p>
        </p:txBody>
      </p:sp>
      <p:sp>
        <p:nvSpPr>
          <p:cNvPr id="23" name="Text 23"/>
          <p:cNvSpPr txBox="1"/>
          <p:nvPr/>
        </p:nvSpPr>
        <p:spPr>
          <a:xfrm>
            <a:off x="6665976" y="2551175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Prompt library, AGENTS.md, first skill, training</a:t>
            </a:r>
            <a:endParaRPr lang="en-US" sz="700"/>
          </a:p>
        </p:txBody>
      </p:sp>
      <p:sp>
        <p:nvSpPr>
          <p:cNvPr id="24" name="Shape 24"/>
          <p:cNvSpPr/>
          <p:nvPr/>
        </p:nvSpPr>
        <p:spPr>
          <a:xfrm>
            <a:off x="411480" y="3099815"/>
            <a:ext cx="11292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448056" y="3163823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Department Agent Blueprint</a:t>
            </a:r>
            <a:endParaRPr lang="en-US" sz="700"/>
          </a:p>
        </p:txBody>
      </p:sp>
      <p:sp>
        <p:nvSpPr>
          <p:cNvPr id="26" name="Text 26"/>
          <p:cNvSpPr txBox="1"/>
          <p:nvPr/>
        </p:nvSpPr>
        <p:spPr>
          <a:xfrm>
            <a:off x="2596896" y="3163823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$7.5k-$20k</a:t>
            </a:r>
            <a:endParaRPr lang="en-US" sz="700"/>
          </a:p>
        </p:txBody>
      </p:sp>
      <p:sp>
        <p:nvSpPr>
          <p:cNvPr id="27" name="Text 27"/>
          <p:cNvSpPr txBox="1"/>
          <p:nvPr/>
        </p:nvSpPr>
        <p:spPr>
          <a:xfrm>
            <a:off x="3739896" y="3163823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3-4 weeks</a:t>
            </a:r>
            <a:endParaRPr lang="en-US" sz="700"/>
          </a:p>
        </p:txBody>
      </p:sp>
      <p:sp>
        <p:nvSpPr>
          <p:cNvPr id="28" name="Text 28"/>
          <p:cNvSpPr txBox="1"/>
          <p:nvPr/>
        </p:nvSpPr>
        <p:spPr>
          <a:xfrm>
            <a:off x="4791456" y="3163823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Support, finance, sales ops</a:t>
            </a:r>
            <a:endParaRPr lang="en-US" sz="700"/>
          </a:p>
        </p:txBody>
      </p:sp>
      <p:sp>
        <p:nvSpPr>
          <p:cNvPr id="29" name="Text 29"/>
          <p:cNvSpPr txBox="1"/>
          <p:nvPr/>
        </p:nvSpPr>
        <p:spPr>
          <a:xfrm>
            <a:off x="6665976" y="3163823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SOP-to-agent design, guardrails, test cases</a:t>
            </a:r>
            <a:endParaRPr lang="en-US" sz="700"/>
          </a:p>
        </p:txBody>
      </p:sp>
      <p:sp>
        <p:nvSpPr>
          <p:cNvPr id="30" name="Shape 30"/>
          <p:cNvSpPr/>
          <p:nvPr/>
        </p:nvSpPr>
        <p:spPr>
          <a:xfrm>
            <a:off x="411480" y="3712463"/>
            <a:ext cx="11292840" cy="612648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48056" y="3776472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Search/GEO Readiness Pack</a:t>
            </a:r>
            <a:endParaRPr lang="en-US" sz="700"/>
          </a:p>
        </p:txBody>
      </p:sp>
      <p:sp>
        <p:nvSpPr>
          <p:cNvPr id="32" name="Text 32"/>
          <p:cNvSpPr txBox="1"/>
          <p:nvPr/>
        </p:nvSpPr>
        <p:spPr>
          <a:xfrm>
            <a:off x="2596896" y="3776472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$3k-$10k</a:t>
            </a:r>
            <a:endParaRPr lang="en-US" sz="700"/>
          </a:p>
        </p:txBody>
      </p:sp>
      <p:sp>
        <p:nvSpPr>
          <p:cNvPr id="33" name="Text 33"/>
          <p:cNvSpPr txBox="1"/>
          <p:nvPr/>
        </p:nvSpPr>
        <p:spPr>
          <a:xfrm>
            <a:off x="3739896" y="3776472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 weeks</a:t>
            </a:r>
            <a:endParaRPr lang="en-US" sz="700"/>
          </a:p>
        </p:txBody>
      </p:sp>
      <p:sp>
        <p:nvSpPr>
          <p:cNvPr id="34" name="Text 34"/>
          <p:cNvSpPr txBox="1"/>
          <p:nvPr/>
        </p:nvSpPr>
        <p:spPr>
          <a:xfrm>
            <a:off x="4791456" y="3776472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B2B marketing teams</a:t>
            </a:r>
            <a:endParaRPr lang="en-US" sz="700"/>
          </a:p>
        </p:txBody>
      </p:sp>
      <p:sp>
        <p:nvSpPr>
          <p:cNvPr id="35" name="Text 35"/>
          <p:cNvSpPr txBox="1"/>
          <p:nvPr/>
        </p:nvSpPr>
        <p:spPr>
          <a:xfrm>
            <a:off x="6665976" y="3776472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AI-search audit, content fixes, measurement plan</a:t>
            </a:r>
            <a:endParaRPr lang="en-US" sz="700"/>
          </a:p>
        </p:txBody>
      </p:sp>
      <p:sp>
        <p:nvSpPr>
          <p:cNvPr id="36" name="Shape 36"/>
          <p:cNvSpPr/>
          <p:nvPr/>
        </p:nvSpPr>
        <p:spPr>
          <a:xfrm>
            <a:off x="411480" y="4325112"/>
            <a:ext cx="11292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448056" y="4389120"/>
            <a:ext cx="20756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Legacy Workflow Modernization Sprint</a:t>
            </a:r>
            <a:endParaRPr lang="en-US" sz="700"/>
          </a:p>
        </p:txBody>
      </p:sp>
      <p:sp>
        <p:nvSpPr>
          <p:cNvPr id="38" name="Text 38"/>
          <p:cNvSpPr txBox="1"/>
          <p:nvPr/>
        </p:nvSpPr>
        <p:spPr>
          <a:xfrm>
            <a:off x="2596896" y="4389120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$10k-$25k</a:t>
            </a:r>
            <a:endParaRPr lang="en-US" sz="700"/>
          </a:p>
        </p:txBody>
      </p:sp>
      <p:sp>
        <p:nvSpPr>
          <p:cNvPr id="39" name="Text 39"/>
          <p:cNvSpPr txBox="1"/>
          <p:nvPr/>
        </p:nvSpPr>
        <p:spPr>
          <a:xfrm>
            <a:off x="3739896" y="4389120"/>
            <a:ext cx="97840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 weeks</a:t>
            </a:r>
            <a:endParaRPr lang="en-US" sz="700"/>
          </a:p>
        </p:txBody>
      </p:sp>
      <p:sp>
        <p:nvSpPr>
          <p:cNvPr id="40" name="Text 40"/>
          <p:cNvSpPr txBox="1"/>
          <p:nvPr/>
        </p:nvSpPr>
        <p:spPr>
          <a:xfrm>
            <a:off x="4791456" y="4389120"/>
            <a:ext cx="1801367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Ops-heavy firms</a:t>
            </a:r>
            <a:endParaRPr lang="en-US" sz="700"/>
          </a:p>
        </p:txBody>
      </p:sp>
      <p:sp>
        <p:nvSpPr>
          <p:cNvPr id="41" name="Text 41"/>
          <p:cNvSpPr txBox="1"/>
          <p:nvPr/>
        </p:nvSpPr>
        <p:spPr>
          <a:xfrm>
            <a:off x="6665976" y="4389120"/>
            <a:ext cx="50017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Browser/computer workflow, QA, handoff docs</a:t>
            </a:r>
            <a:endParaRPr lang="en-US" sz="700"/>
          </a:p>
        </p:txBody>
      </p:sp>
      <p:sp>
        <p:nvSpPr>
          <p:cNvPr id="42" name="Text 42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14213D"/>
                </a:solidFill>
              </a:rPr>
              <a:t>Design principle: every fixed offer should be a wedge into one recurring service, not a dead-end deliverable.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Recurring Services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Retainers turn AI capability into compounding business value.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411480" y="1261872"/>
            <a:ext cx="11064240" cy="6126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448056" y="1335024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Service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2779776" y="1335024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Monthly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3922776" y="1335024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Core work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6894576" y="1335024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Upside</a:t>
            </a:r>
            <a:endParaRPr lang="en-US" sz="800"/>
          </a:p>
        </p:txBody>
      </p:sp>
      <p:sp>
        <p:nvSpPr>
          <p:cNvPr id="11" name="Text 11"/>
          <p:cNvSpPr txBox="1"/>
          <p:nvPr/>
        </p:nvSpPr>
        <p:spPr>
          <a:xfrm>
            <a:off x="8906255" y="1335024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Watch-out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411480" y="1874519"/>
            <a:ext cx="110642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48056" y="1938527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Managed AI Ops Retainer</a:t>
            </a:r>
            <a:endParaRPr lang="en-US" sz="700"/>
          </a:p>
        </p:txBody>
      </p:sp>
      <p:sp>
        <p:nvSpPr>
          <p:cNvPr id="14" name="Text 14"/>
          <p:cNvSpPr txBox="1"/>
          <p:nvPr/>
        </p:nvSpPr>
        <p:spPr>
          <a:xfrm>
            <a:off x="2779776" y="1938527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$2k-$8k/mo</a:t>
            </a:r>
            <a:endParaRPr lang="en-US" sz="700"/>
          </a:p>
        </p:txBody>
      </p:sp>
      <p:sp>
        <p:nvSpPr>
          <p:cNvPr id="15" name="Text 15"/>
          <p:cNvSpPr txBox="1"/>
          <p:nvPr/>
        </p:nvSpPr>
        <p:spPr>
          <a:xfrm>
            <a:off x="3922776" y="1938527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Maintain automations, dashboards, prompts, SOPs</a:t>
            </a:r>
            <a:endParaRPr lang="en-US" sz="700"/>
          </a:p>
        </p:txBody>
      </p:sp>
      <p:sp>
        <p:nvSpPr>
          <p:cNvPr id="16" name="Text 16"/>
          <p:cNvSpPr txBox="1"/>
          <p:nvPr/>
        </p:nvSpPr>
        <p:spPr>
          <a:xfrm>
            <a:off x="6894576" y="1938527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Sticky; direct ROI</a:t>
            </a:r>
            <a:endParaRPr lang="en-US" sz="700"/>
          </a:p>
        </p:txBody>
      </p:sp>
      <p:sp>
        <p:nvSpPr>
          <p:cNvPr id="17" name="Text 17"/>
          <p:cNvSpPr txBox="1"/>
          <p:nvPr/>
        </p:nvSpPr>
        <p:spPr>
          <a:xfrm>
            <a:off x="8906255" y="1938527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Medium delivery load</a:t>
            </a:r>
            <a:endParaRPr lang="en-US" sz="700"/>
          </a:p>
        </p:txBody>
      </p:sp>
      <p:sp>
        <p:nvSpPr>
          <p:cNvPr id="18" name="Shape 18"/>
          <p:cNvSpPr/>
          <p:nvPr/>
        </p:nvSpPr>
        <p:spPr>
          <a:xfrm>
            <a:off x="411480" y="2487168"/>
            <a:ext cx="11064240" cy="612648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48056" y="2551175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Agent Governance Subscription</a:t>
            </a:r>
            <a:endParaRPr lang="en-US" sz="700"/>
          </a:p>
        </p:txBody>
      </p:sp>
      <p:sp>
        <p:nvSpPr>
          <p:cNvPr id="20" name="Text 20"/>
          <p:cNvSpPr txBox="1"/>
          <p:nvPr/>
        </p:nvSpPr>
        <p:spPr>
          <a:xfrm>
            <a:off x="2779776" y="2551175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$1.5k-$6k/mo</a:t>
            </a:r>
            <a:endParaRPr lang="en-US" sz="700"/>
          </a:p>
        </p:txBody>
      </p:sp>
      <p:sp>
        <p:nvSpPr>
          <p:cNvPr id="21" name="Text 21"/>
          <p:cNvSpPr txBox="1"/>
          <p:nvPr/>
        </p:nvSpPr>
        <p:spPr>
          <a:xfrm>
            <a:off x="3922776" y="2551175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Monthly risk review, approval flows, audit trails</a:t>
            </a:r>
            <a:endParaRPr lang="en-US" sz="700"/>
          </a:p>
        </p:txBody>
      </p:sp>
      <p:sp>
        <p:nvSpPr>
          <p:cNvPr id="22" name="Text 22"/>
          <p:cNvSpPr txBox="1"/>
          <p:nvPr/>
        </p:nvSpPr>
        <p:spPr>
          <a:xfrm>
            <a:off x="6894576" y="2551175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High trust; low churn</a:t>
            </a:r>
            <a:endParaRPr lang="en-US" sz="700"/>
          </a:p>
        </p:txBody>
      </p:sp>
      <p:sp>
        <p:nvSpPr>
          <p:cNvPr id="23" name="Text 23"/>
          <p:cNvSpPr txBox="1"/>
          <p:nvPr/>
        </p:nvSpPr>
        <p:spPr>
          <a:xfrm>
            <a:off x="8906255" y="2551175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Requires rigor</a:t>
            </a:r>
            <a:endParaRPr lang="en-US" sz="700"/>
          </a:p>
        </p:txBody>
      </p:sp>
      <p:sp>
        <p:nvSpPr>
          <p:cNvPr id="24" name="Shape 24"/>
          <p:cNvSpPr/>
          <p:nvPr/>
        </p:nvSpPr>
        <p:spPr>
          <a:xfrm>
            <a:off x="411480" y="3099815"/>
            <a:ext cx="110642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448056" y="3163823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Automation Lab-as-a-Service</a:t>
            </a:r>
            <a:endParaRPr lang="en-US" sz="700"/>
          </a:p>
        </p:txBody>
      </p:sp>
      <p:sp>
        <p:nvSpPr>
          <p:cNvPr id="26" name="Text 26"/>
          <p:cNvSpPr txBox="1"/>
          <p:nvPr/>
        </p:nvSpPr>
        <p:spPr>
          <a:xfrm>
            <a:off x="2779776" y="3163823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$5k-$12k/mo</a:t>
            </a:r>
            <a:endParaRPr lang="en-US" sz="700"/>
          </a:p>
        </p:txBody>
      </p:sp>
      <p:sp>
        <p:nvSpPr>
          <p:cNvPr id="27" name="Text 27"/>
          <p:cNvSpPr txBox="1"/>
          <p:nvPr/>
        </p:nvSpPr>
        <p:spPr>
          <a:xfrm>
            <a:off x="3922776" y="3163823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One new workflow per month + improvements</a:t>
            </a:r>
            <a:endParaRPr lang="en-US" sz="700"/>
          </a:p>
        </p:txBody>
      </p:sp>
      <p:sp>
        <p:nvSpPr>
          <p:cNvPr id="28" name="Text 28"/>
          <p:cNvSpPr txBox="1"/>
          <p:nvPr/>
        </p:nvSpPr>
        <p:spPr>
          <a:xfrm>
            <a:off x="6894576" y="3163823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Strong expansion path</a:t>
            </a:r>
            <a:endParaRPr lang="en-US" sz="700"/>
          </a:p>
        </p:txBody>
      </p:sp>
      <p:sp>
        <p:nvSpPr>
          <p:cNvPr id="29" name="Text 29"/>
          <p:cNvSpPr txBox="1"/>
          <p:nvPr/>
        </p:nvSpPr>
        <p:spPr>
          <a:xfrm>
            <a:off x="8906255" y="3163823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Can overload time</a:t>
            </a:r>
            <a:endParaRPr lang="en-US" sz="700"/>
          </a:p>
        </p:txBody>
      </p:sp>
      <p:sp>
        <p:nvSpPr>
          <p:cNvPr id="30" name="Shape 30"/>
          <p:cNvSpPr/>
          <p:nvPr/>
        </p:nvSpPr>
        <p:spPr>
          <a:xfrm>
            <a:off x="411480" y="3712463"/>
            <a:ext cx="11064240" cy="612648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48056" y="3776472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Enablement Office Hours</a:t>
            </a:r>
            <a:endParaRPr lang="en-US" sz="700"/>
          </a:p>
        </p:txBody>
      </p:sp>
      <p:sp>
        <p:nvSpPr>
          <p:cNvPr id="32" name="Text 32"/>
          <p:cNvSpPr txBox="1"/>
          <p:nvPr/>
        </p:nvSpPr>
        <p:spPr>
          <a:xfrm>
            <a:off x="2779776" y="3776472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$750-$2.5k/mo</a:t>
            </a:r>
            <a:endParaRPr lang="en-US" sz="700"/>
          </a:p>
        </p:txBody>
      </p:sp>
      <p:sp>
        <p:nvSpPr>
          <p:cNvPr id="33" name="Text 33"/>
          <p:cNvSpPr txBox="1"/>
          <p:nvPr/>
        </p:nvSpPr>
        <p:spPr>
          <a:xfrm>
            <a:off x="3922776" y="3776472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Team training, prompt reviews, playbook updates</a:t>
            </a:r>
            <a:endParaRPr lang="en-US" sz="700"/>
          </a:p>
        </p:txBody>
      </p:sp>
      <p:sp>
        <p:nvSpPr>
          <p:cNvPr id="34" name="Text 34"/>
          <p:cNvSpPr txBox="1"/>
          <p:nvPr/>
        </p:nvSpPr>
        <p:spPr>
          <a:xfrm>
            <a:off x="6894576" y="3776472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Lightweight scale</a:t>
            </a:r>
            <a:endParaRPr lang="en-US" sz="700"/>
          </a:p>
        </p:txBody>
      </p:sp>
      <p:sp>
        <p:nvSpPr>
          <p:cNvPr id="35" name="Text 35"/>
          <p:cNvSpPr txBox="1"/>
          <p:nvPr/>
        </p:nvSpPr>
        <p:spPr>
          <a:xfrm>
            <a:off x="8906255" y="3776472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Lower ticket</a:t>
            </a:r>
            <a:endParaRPr lang="en-US" sz="700"/>
          </a:p>
        </p:txBody>
      </p:sp>
      <p:sp>
        <p:nvSpPr>
          <p:cNvPr id="36" name="Shape 36"/>
          <p:cNvSpPr/>
          <p:nvPr/>
        </p:nvSpPr>
        <p:spPr>
          <a:xfrm>
            <a:off x="411480" y="4325112"/>
            <a:ext cx="110642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448056" y="4389120"/>
            <a:ext cx="225856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Ops Monitoring</a:t>
            </a:r>
            <a:endParaRPr lang="en-US" sz="700"/>
          </a:p>
        </p:txBody>
      </p:sp>
      <p:sp>
        <p:nvSpPr>
          <p:cNvPr id="38" name="Text 38"/>
          <p:cNvSpPr txBox="1"/>
          <p:nvPr/>
        </p:nvSpPr>
        <p:spPr>
          <a:xfrm>
            <a:off x="2779776" y="4389120"/>
            <a:ext cx="10698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$500-$2k/mo</a:t>
            </a:r>
            <a:endParaRPr lang="en-US" sz="700"/>
          </a:p>
        </p:txBody>
      </p:sp>
      <p:sp>
        <p:nvSpPr>
          <p:cNvPr id="39" name="Text 39"/>
          <p:cNvSpPr txBox="1"/>
          <p:nvPr/>
        </p:nvSpPr>
        <p:spPr>
          <a:xfrm>
            <a:off x="3922776" y="4389120"/>
            <a:ext cx="289864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Weekly checks, error triage, usage summaries</a:t>
            </a:r>
            <a:endParaRPr lang="en-US" sz="700"/>
          </a:p>
        </p:txBody>
      </p:sp>
      <p:sp>
        <p:nvSpPr>
          <p:cNvPr id="40" name="Text 40"/>
          <p:cNvSpPr txBox="1"/>
          <p:nvPr/>
        </p:nvSpPr>
        <p:spPr>
          <a:xfrm>
            <a:off x="6894576" y="4389120"/>
            <a:ext cx="193852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Easy add-on</a:t>
            </a:r>
            <a:endParaRPr lang="en-US" sz="700"/>
          </a:p>
        </p:txBody>
      </p:sp>
      <p:sp>
        <p:nvSpPr>
          <p:cNvPr id="41" name="Text 41"/>
          <p:cNvSpPr txBox="1"/>
          <p:nvPr/>
        </p:nvSpPr>
        <p:spPr>
          <a:xfrm>
            <a:off x="8906255" y="4389120"/>
            <a:ext cx="2532888" cy="5212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Needs tooling discipline</a:t>
            </a:r>
            <a:endParaRPr lang="en-US" sz="700"/>
          </a:p>
        </p:txBody>
      </p:sp>
      <p:sp>
        <p:nvSpPr>
          <p:cNvPr id="42" name="Text 42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14213D"/>
                </a:solidFill>
              </a:rPr>
              <a:t>Best bundle: Audit Kit -&gt; AI Ops Starter Pack -&gt; Managed AI Ops Retainer + Governance add-on.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Best Niches For A Solo Operator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Pick narrow workflows where proof is fast and access is realistic.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594360" y="123444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594360" y="1234440"/>
            <a:ext cx="109728" cy="20574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795528" y="13716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1. Professional services ops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813816" y="1764792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Proposal drafting, client onboarding, project status, knowledge reuse.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Why good: document-heavy, high value of time, recurring cadence.</a:t>
            </a:r>
            <a:endParaRPr lang="en-US" sz="1000"/>
          </a:p>
        </p:txBody>
      </p:sp>
      <p:sp>
        <p:nvSpPr>
          <p:cNvPr id="10" name="Shape 10"/>
          <p:cNvSpPr/>
          <p:nvPr/>
        </p:nvSpPr>
        <p:spPr>
          <a:xfrm>
            <a:off x="4315968" y="123444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4315968" y="1234440"/>
            <a:ext cx="109728" cy="20574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517136" y="13716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2. B2B agencies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4535424" y="1764792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Campaign QA, reporting, content ops, client comms, creative briefs.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Why good: margin pressure, many repeated workflows, fast buying cycles.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8037575" y="123444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8037575" y="1234440"/>
            <a:ext cx="109728" cy="20574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238744" y="13716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3. SaaS customer/support ops</a:t>
            </a:r>
            <a:endParaRPr lang="en-US" sz="1400"/>
          </a:p>
        </p:txBody>
      </p:sp>
      <p:sp>
        <p:nvSpPr>
          <p:cNvPr id="17" name="Text 17"/>
          <p:cNvSpPr txBox="1"/>
          <p:nvPr/>
        </p:nvSpPr>
        <p:spPr>
          <a:xfrm>
            <a:off x="8257031" y="1764792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Ticket triage, release notes, help docs, churn signals, onboarding.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Why good: measurable deflection and turnaround improvements.</a:t>
            </a:r>
            <a:endParaRPr lang="en-US" sz="1000"/>
          </a:p>
        </p:txBody>
      </p:sp>
      <p:sp>
        <p:nvSpPr>
          <p:cNvPr id="18" name="Shape 18"/>
          <p:cNvSpPr/>
          <p:nvPr/>
        </p:nvSpPr>
        <p:spPr>
          <a:xfrm>
            <a:off x="2423160" y="370332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2423160" y="3703320"/>
            <a:ext cx="109728" cy="20574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2624328" y="38404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4. Finance/admin teams</a:t>
            </a:r>
            <a:endParaRPr lang="en-US" sz="1400"/>
          </a:p>
        </p:txBody>
      </p:sp>
      <p:sp>
        <p:nvSpPr>
          <p:cNvPr id="21" name="Text 21"/>
          <p:cNvSpPr txBox="1"/>
          <p:nvPr/>
        </p:nvSpPr>
        <p:spPr>
          <a:xfrm>
            <a:off x="2642615" y="4233672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Invoice checks, reconciliation prep, policy Q&amp;A, monthly close packets.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Why good: high pain, but requires stronger controls and audit trail.</a:t>
            </a:r>
            <a:endParaRPr lang="en-US" sz="1000"/>
          </a:p>
        </p:txBody>
      </p:sp>
      <p:sp>
        <p:nvSpPr>
          <p:cNvPr id="22" name="Shape 22"/>
          <p:cNvSpPr/>
          <p:nvPr/>
        </p:nvSpPr>
        <p:spPr>
          <a:xfrm>
            <a:off x="6144768" y="370332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6144768" y="3703320"/>
            <a:ext cx="109728" cy="2057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345936" y="38404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5. Dev teams under 30</a:t>
            </a:r>
            <a:endParaRPr lang="en-US" sz="1400"/>
          </a:p>
        </p:txBody>
      </p:sp>
      <p:sp>
        <p:nvSpPr>
          <p:cNvPr id="25" name="Text 25"/>
          <p:cNvSpPr txBox="1"/>
          <p:nvPr/>
        </p:nvSpPr>
        <p:spPr>
          <a:xfrm>
            <a:off x="6364224" y="4233672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Codex enablement, review routines, test automation, repo playbooks.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Why good: you can use your protocol directly as the delivery method.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Comparison Matrix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Scores: 5 = strongest. Time load is scored high when low time burden.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502920" y="1143000"/>
            <a:ext cx="8823960" cy="48463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539496" y="1216152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Idea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3785615" y="121615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Speed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4700016" y="1216152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Revenue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5705855" y="121615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Scales</a:t>
            </a:r>
            <a:endParaRPr lang="en-US" sz="800"/>
          </a:p>
        </p:txBody>
      </p:sp>
      <p:sp>
        <p:nvSpPr>
          <p:cNvPr id="11" name="Text 11"/>
          <p:cNvSpPr txBox="1"/>
          <p:nvPr/>
        </p:nvSpPr>
        <p:spPr>
          <a:xfrm>
            <a:off x="6620255" y="1216152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Low time</a:t>
            </a:r>
            <a:endParaRPr lang="en-US" sz="800"/>
          </a:p>
        </p:txBody>
      </p:sp>
      <p:sp>
        <p:nvSpPr>
          <p:cNvPr id="12" name="Text 12"/>
          <p:cNvSpPr txBox="1"/>
          <p:nvPr/>
        </p:nvSpPr>
        <p:spPr>
          <a:xfrm>
            <a:off x="7671815" y="1216152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Trust</a:t>
            </a:r>
            <a:endParaRPr lang="en-US" sz="800"/>
          </a:p>
        </p:txBody>
      </p:sp>
      <p:sp>
        <p:nvSpPr>
          <p:cNvPr id="13" name="Text 13"/>
          <p:cNvSpPr txBox="1"/>
          <p:nvPr/>
        </p:nvSpPr>
        <p:spPr>
          <a:xfrm>
            <a:off x="8540495" y="1216152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Total</a:t>
            </a:r>
            <a:endParaRPr lang="en-US" sz="800"/>
          </a:p>
        </p:txBody>
      </p:sp>
      <p:sp>
        <p:nvSpPr>
          <p:cNvPr id="14" name="Shape 14"/>
          <p:cNvSpPr/>
          <p:nvPr/>
        </p:nvSpPr>
        <p:spPr>
          <a:xfrm>
            <a:off x="502920" y="1627632"/>
            <a:ext cx="8823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39496" y="1691640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Workflow Audit Kit</a:t>
            </a:r>
            <a:endParaRPr lang="en-US" sz="700"/>
          </a:p>
        </p:txBody>
      </p:sp>
      <p:sp>
        <p:nvSpPr>
          <p:cNvPr id="16" name="Text 16"/>
          <p:cNvSpPr txBox="1"/>
          <p:nvPr/>
        </p:nvSpPr>
        <p:spPr>
          <a:xfrm>
            <a:off x="3785615" y="1691640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17" name="Text 17"/>
          <p:cNvSpPr txBox="1"/>
          <p:nvPr/>
        </p:nvSpPr>
        <p:spPr>
          <a:xfrm>
            <a:off x="4700016" y="1691640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18" name="Text 18"/>
          <p:cNvSpPr txBox="1"/>
          <p:nvPr/>
        </p:nvSpPr>
        <p:spPr>
          <a:xfrm>
            <a:off x="5705855" y="1691640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19" name="Text 19"/>
          <p:cNvSpPr txBox="1"/>
          <p:nvPr/>
        </p:nvSpPr>
        <p:spPr>
          <a:xfrm>
            <a:off x="6620255" y="1691640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20" name="Text 20"/>
          <p:cNvSpPr txBox="1"/>
          <p:nvPr/>
        </p:nvSpPr>
        <p:spPr>
          <a:xfrm>
            <a:off x="7671815" y="1691640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21" name="Text 21"/>
          <p:cNvSpPr txBox="1"/>
          <p:nvPr/>
        </p:nvSpPr>
        <p:spPr>
          <a:xfrm>
            <a:off x="8540495" y="1691640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21</a:t>
            </a:r>
            <a:endParaRPr lang="en-US" sz="700"/>
          </a:p>
        </p:txBody>
      </p:sp>
      <p:sp>
        <p:nvSpPr>
          <p:cNvPr id="22" name="Shape 22"/>
          <p:cNvSpPr/>
          <p:nvPr/>
        </p:nvSpPr>
        <p:spPr>
          <a:xfrm>
            <a:off x="502920" y="2112264"/>
            <a:ext cx="8823960" cy="484632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539496" y="2176272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Ops Starter Pack</a:t>
            </a:r>
            <a:endParaRPr lang="en-US" sz="700"/>
          </a:p>
        </p:txBody>
      </p:sp>
      <p:sp>
        <p:nvSpPr>
          <p:cNvPr id="24" name="Text 24"/>
          <p:cNvSpPr txBox="1"/>
          <p:nvPr/>
        </p:nvSpPr>
        <p:spPr>
          <a:xfrm>
            <a:off x="3785615" y="217627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25" name="Text 25"/>
          <p:cNvSpPr txBox="1"/>
          <p:nvPr/>
        </p:nvSpPr>
        <p:spPr>
          <a:xfrm>
            <a:off x="4700016" y="2176272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26" name="Text 26"/>
          <p:cNvSpPr txBox="1"/>
          <p:nvPr/>
        </p:nvSpPr>
        <p:spPr>
          <a:xfrm>
            <a:off x="5705855" y="217627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27" name="Text 27"/>
          <p:cNvSpPr txBox="1"/>
          <p:nvPr/>
        </p:nvSpPr>
        <p:spPr>
          <a:xfrm>
            <a:off x="6620255" y="2176272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28" name="Text 28"/>
          <p:cNvSpPr txBox="1"/>
          <p:nvPr/>
        </p:nvSpPr>
        <p:spPr>
          <a:xfrm>
            <a:off x="7671815" y="2176272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29" name="Text 29"/>
          <p:cNvSpPr txBox="1"/>
          <p:nvPr/>
        </p:nvSpPr>
        <p:spPr>
          <a:xfrm>
            <a:off x="8540495" y="2176272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20</a:t>
            </a:r>
            <a:endParaRPr lang="en-US" sz="700"/>
          </a:p>
        </p:txBody>
      </p:sp>
      <p:sp>
        <p:nvSpPr>
          <p:cNvPr id="30" name="Shape 30"/>
          <p:cNvSpPr/>
          <p:nvPr/>
        </p:nvSpPr>
        <p:spPr>
          <a:xfrm>
            <a:off x="502920" y="2596896"/>
            <a:ext cx="8823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539496" y="2660903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Department Agent Blueprint</a:t>
            </a:r>
            <a:endParaRPr lang="en-US" sz="700"/>
          </a:p>
        </p:txBody>
      </p:sp>
      <p:sp>
        <p:nvSpPr>
          <p:cNvPr id="32" name="Text 32"/>
          <p:cNvSpPr txBox="1"/>
          <p:nvPr/>
        </p:nvSpPr>
        <p:spPr>
          <a:xfrm>
            <a:off x="3785615" y="2660903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33" name="Text 33"/>
          <p:cNvSpPr txBox="1"/>
          <p:nvPr/>
        </p:nvSpPr>
        <p:spPr>
          <a:xfrm>
            <a:off x="4700016" y="2660903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34" name="Text 34"/>
          <p:cNvSpPr txBox="1"/>
          <p:nvPr/>
        </p:nvSpPr>
        <p:spPr>
          <a:xfrm>
            <a:off x="5705855" y="2660903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35" name="Text 35"/>
          <p:cNvSpPr txBox="1"/>
          <p:nvPr/>
        </p:nvSpPr>
        <p:spPr>
          <a:xfrm>
            <a:off x="6620255" y="2660903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</a:t>
            </a:r>
            <a:endParaRPr lang="en-US" sz="700"/>
          </a:p>
        </p:txBody>
      </p:sp>
      <p:sp>
        <p:nvSpPr>
          <p:cNvPr id="36" name="Text 36"/>
          <p:cNvSpPr txBox="1"/>
          <p:nvPr/>
        </p:nvSpPr>
        <p:spPr>
          <a:xfrm>
            <a:off x="7671815" y="2660903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37" name="Text 37"/>
          <p:cNvSpPr txBox="1"/>
          <p:nvPr/>
        </p:nvSpPr>
        <p:spPr>
          <a:xfrm>
            <a:off x="8540495" y="2660903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20</a:t>
            </a:r>
            <a:endParaRPr lang="en-US" sz="700"/>
          </a:p>
        </p:txBody>
      </p:sp>
      <p:sp>
        <p:nvSpPr>
          <p:cNvPr id="38" name="Shape 38"/>
          <p:cNvSpPr/>
          <p:nvPr/>
        </p:nvSpPr>
        <p:spPr>
          <a:xfrm>
            <a:off x="502920" y="3081528"/>
            <a:ext cx="8823960" cy="484632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539496" y="3145536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Managed AI Ops Retainer</a:t>
            </a:r>
            <a:endParaRPr lang="en-US" sz="700"/>
          </a:p>
        </p:txBody>
      </p:sp>
      <p:sp>
        <p:nvSpPr>
          <p:cNvPr id="40" name="Text 40"/>
          <p:cNvSpPr txBox="1"/>
          <p:nvPr/>
        </p:nvSpPr>
        <p:spPr>
          <a:xfrm>
            <a:off x="3785615" y="3145536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41" name="Text 41"/>
          <p:cNvSpPr txBox="1"/>
          <p:nvPr/>
        </p:nvSpPr>
        <p:spPr>
          <a:xfrm>
            <a:off x="4700016" y="3145536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42" name="Text 42"/>
          <p:cNvSpPr txBox="1"/>
          <p:nvPr/>
        </p:nvSpPr>
        <p:spPr>
          <a:xfrm>
            <a:off x="5705855" y="3145536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43" name="Text 43"/>
          <p:cNvSpPr txBox="1"/>
          <p:nvPr/>
        </p:nvSpPr>
        <p:spPr>
          <a:xfrm>
            <a:off x="6620255" y="3145536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44" name="Text 44"/>
          <p:cNvSpPr txBox="1"/>
          <p:nvPr/>
        </p:nvSpPr>
        <p:spPr>
          <a:xfrm>
            <a:off x="7671815" y="3145536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45" name="Text 45"/>
          <p:cNvSpPr txBox="1"/>
          <p:nvPr/>
        </p:nvSpPr>
        <p:spPr>
          <a:xfrm>
            <a:off x="8540495" y="3145536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20</a:t>
            </a:r>
            <a:endParaRPr lang="en-US" sz="700"/>
          </a:p>
        </p:txBody>
      </p:sp>
      <p:sp>
        <p:nvSpPr>
          <p:cNvPr id="46" name="Shape 46"/>
          <p:cNvSpPr/>
          <p:nvPr/>
        </p:nvSpPr>
        <p:spPr>
          <a:xfrm>
            <a:off x="502920" y="3566160"/>
            <a:ext cx="8823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539496" y="3630168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Governance Subscription</a:t>
            </a:r>
            <a:endParaRPr lang="en-US" sz="700"/>
          </a:p>
        </p:txBody>
      </p:sp>
      <p:sp>
        <p:nvSpPr>
          <p:cNvPr id="48" name="Text 48"/>
          <p:cNvSpPr txBox="1"/>
          <p:nvPr/>
        </p:nvSpPr>
        <p:spPr>
          <a:xfrm>
            <a:off x="3785615" y="3630168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49" name="Text 49"/>
          <p:cNvSpPr txBox="1"/>
          <p:nvPr/>
        </p:nvSpPr>
        <p:spPr>
          <a:xfrm>
            <a:off x="4700016" y="3630168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50" name="Text 50"/>
          <p:cNvSpPr txBox="1"/>
          <p:nvPr/>
        </p:nvSpPr>
        <p:spPr>
          <a:xfrm>
            <a:off x="5705855" y="3630168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51" name="Text 51"/>
          <p:cNvSpPr txBox="1"/>
          <p:nvPr/>
        </p:nvSpPr>
        <p:spPr>
          <a:xfrm>
            <a:off x="6620255" y="3630168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52" name="Text 52"/>
          <p:cNvSpPr txBox="1"/>
          <p:nvPr/>
        </p:nvSpPr>
        <p:spPr>
          <a:xfrm>
            <a:off x="7671815" y="3630168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53" name="Text 53"/>
          <p:cNvSpPr txBox="1"/>
          <p:nvPr/>
        </p:nvSpPr>
        <p:spPr>
          <a:xfrm>
            <a:off x="8540495" y="3630168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20</a:t>
            </a:r>
            <a:endParaRPr lang="en-US" sz="700"/>
          </a:p>
        </p:txBody>
      </p:sp>
      <p:sp>
        <p:nvSpPr>
          <p:cNvPr id="54" name="Shape 54"/>
          <p:cNvSpPr/>
          <p:nvPr/>
        </p:nvSpPr>
        <p:spPr>
          <a:xfrm>
            <a:off x="502920" y="4050792"/>
            <a:ext cx="8823960" cy="484632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539496" y="4114800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Automation Lab-as-a-Service</a:t>
            </a:r>
            <a:endParaRPr lang="en-US" sz="700"/>
          </a:p>
        </p:txBody>
      </p:sp>
      <p:sp>
        <p:nvSpPr>
          <p:cNvPr id="56" name="Text 56"/>
          <p:cNvSpPr txBox="1"/>
          <p:nvPr/>
        </p:nvSpPr>
        <p:spPr>
          <a:xfrm>
            <a:off x="3785615" y="4114800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57" name="Text 57"/>
          <p:cNvSpPr txBox="1"/>
          <p:nvPr/>
        </p:nvSpPr>
        <p:spPr>
          <a:xfrm>
            <a:off x="4700016" y="4114800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58" name="Text 58"/>
          <p:cNvSpPr txBox="1"/>
          <p:nvPr/>
        </p:nvSpPr>
        <p:spPr>
          <a:xfrm>
            <a:off x="5705855" y="4114800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59" name="Text 59"/>
          <p:cNvSpPr txBox="1"/>
          <p:nvPr/>
        </p:nvSpPr>
        <p:spPr>
          <a:xfrm>
            <a:off x="6620255" y="4114800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</a:t>
            </a:r>
            <a:endParaRPr lang="en-US" sz="700"/>
          </a:p>
        </p:txBody>
      </p:sp>
      <p:sp>
        <p:nvSpPr>
          <p:cNvPr id="60" name="Text 60"/>
          <p:cNvSpPr txBox="1"/>
          <p:nvPr/>
        </p:nvSpPr>
        <p:spPr>
          <a:xfrm>
            <a:off x="7671815" y="4114800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61" name="Text 61"/>
          <p:cNvSpPr txBox="1"/>
          <p:nvPr/>
        </p:nvSpPr>
        <p:spPr>
          <a:xfrm>
            <a:off x="8540495" y="4114800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17</a:t>
            </a:r>
            <a:endParaRPr lang="en-US" sz="700"/>
          </a:p>
        </p:txBody>
      </p:sp>
      <p:sp>
        <p:nvSpPr>
          <p:cNvPr id="62" name="Shape 62"/>
          <p:cNvSpPr/>
          <p:nvPr/>
        </p:nvSpPr>
        <p:spPr>
          <a:xfrm>
            <a:off x="502920" y="4535424"/>
            <a:ext cx="8823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539496" y="4599432"/>
            <a:ext cx="317296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AI Enablement Office Hours</a:t>
            </a:r>
            <a:endParaRPr lang="en-US" sz="700"/>
          </a:p>
        </p:txBody>
      </p:sp>
      <p:sp>
        <p:nvSpPr>
          <p:cNvPr id="64" name="Text 64"/>
          <p:cNvSpPr txBox="1"/>
          <p:nvPr/>
        </p:nvSpPr>
        <p:spPr>
          <a:xfrm>
            <a:off x="3785615" y="459943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65" name="Text 65"/>
          <p:cNvSpPr txBox="1"/>
          <p:nvPr/>
        </p:nvSpPr>
        <p:spPr>
          <a:xfrm>
            <a:off x="4700016" y="4599432"/>
            <a:ext cx="93268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3</a:t>
            </a:r>
            <a:endParaRPr lang="en-US" sz="700"/>
          </a:p>
        </p:txBody>
      </p:sp>
      <p:sp>
        <p:nvSpPr>
          <p:cNvPr id="66" name="Text 66"/>
          <p:cNvSpPr txBox="1"/>
          <p:nvPr/>
        </p:nvSpPr>
        <p:spPr>
          <a:xfrm>
            <a:off x="5705855" y="459943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4</a:t>
            </a:r>
            <a:endParaRPr lang="en-US" sz="700"/>
          </a:p>
        </p:txBody>
      </p:sp>
      <p:sp>
        <p:nvSpPr>
          <p:cNvPr id="67" name="Text 67"/>
          <p:cNvSpPr txBox="1"/>
          <p:nvPr/>
        </p:nvSpPr>
        <p:spPr>
          <a:xfrm>
            <a:off x="6620255" y="4599432"/>
            <a:ext cx="978407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</a:t>
            </a:r>
            <a:endParaRPr lang="en-US" sz="700"/>
          </a:p>
        </p:txBody>
      </p:sp>
      <p:sp>
        <p:nvSpPr>
          <p:cNvPr id="68" name="Text 68"/>
          <p:cNvSpPr txBox="1"/>
          <p:nvPr/>
        </p:nvSpPr>
        <p:spPr>
          <a:xfrm>
            <a:off x="7671815" y="4599432"/>
            <a:ext cx="79552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2</a:t>
            </a:r>
            <a:endParaRPr lang="en-US" sz="700"/>
          </a:p>
        </p:txBody>
      </p:sp>
      <p:sp>
        <p:nvSpPr>
          <p:cNvPr id="69" name="Text 69"/>
          <p:cNvSpPr txBox="1"/>
          <p:nvPr/>
        </p:nvSpPr>
        <p:spPr>
          <a:xfrm>
            <a:off x="8540495" y="4599432"/>
            <a:ext cx="749808" cy="3931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19</a:t>
            </a:r>
            <a:endParaRPr lang="en-US" sz="700"/>
          </a:p>
        </p:txBody>
      </p:sp>
      <p:sp>
        <p:nvSpPr>
          <p:cNvPr id="70" name="Shape 70"/>
          <p:cNvSpPr/>
          <p:nvPr/>
        </p:nvSpPr>
        <p:spPr>
          <a:xfrm>
            <a:off x="8641080" y="1143000"/>
            <a:ext cx="274320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641080" y="1143000"/>
            <a:ext cx="109728" cy="41605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 72"/>
          <p:cNvSpPr txBox="1"/>
          <p:nvPr/>
        </p:nvSpPr>
        <p:spPr>
          <a:xfrm>
            <a:off x="8842248" y="12801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Interpretation</a:t>
            </a:r>
            <a:endParaRPr lang="en-US" sz="1400"/>
          </a:p>
        </p:txBody>
      </p:sp>
      <p:sp>
        <p:nvSpPr>
          <p:cNvPr id="73" name="Text 73"/>
          <p:cNvSpPr txBox="1"/>
          <p:nvPr/>
        </p:nvSpPr>
        <p:spPr>
          <a:xfrm>
            <a:off x="8860536" y="1673352"/>
            <a:ext cx="2395728" cy="35204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Start with the Audit Kit because it is easiest to sell and learn from.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Use Starter Pack as the first implementation upsell.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Convert qualified clients into Managed AI Ops or Governance.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Delay Automation Lab until templates and delivery standards are mature.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Recommended Starting Business Model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A simple offer stack that fits a 40-hour week.</a:t>
            </a:r>
            <a:endParaRPr lang="en-US" sz="1100"/>
          </a:p>
        </p:txBody>
      </p:sp>
      <p:sp>
        <p:nvSpPr>
          <p:cNvPr id="6" name="Text 6"/>
          <p:cNvSpPr txBox="1"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Positioning</a:t>
            </a:r>
            <a:endParaRPr lang="en-US" sz="1400"/>
          </a:p>
        </p:txBody>
      </p:sp>
      <p:sp>
        <p:nvSpPr>
          <p:cNvPr id="7" name="Text 7"/>
          <p:cNvSpPr txBox="1"/>
          <p:nvPr/>
        </p:nvSpPr>
        <p:spPr>
          <a:xfrm>
            <a:off x="868680" y="16002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600"/>
            </a:pPr>
            <a:r>
              <a:rPr lang="en-US" sz="1600" b="1">
                <a:solidFill>
                  <a:srgbClr val="1C1D21"/>
                </a:solidFill>
              </a:rPr>
              <a:t>I help B2B teams turn scattered AI usage into governed, repeatable workflows that save time without creating operational risk.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685800" y="2423160"/>
            <a:ext cx="333756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685800" y="2423160"/>
            <a:ext cx="109728" cy="30175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86968" y="2560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Entry product</a:t>
            </a:r>
            <a:endParaRPr lang="en-US" sz="1400"/>
          </a:p>
        </p:txBody>
      </p:sp>
      <p:sp>
        <p:nvSpPr>
          <p:cNvPr id="11" name="Text 11"/>
          <p:cNvSpPr txBox="1"/>
          <p:nvPr/>
        </p:nvSpPr>
        <p:spPr>
          <a:xfrm>
            <a:off x="905256" y="2953512"/>
            <a:ext cx="2990088" cy="23774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AI Workflow Audit Kit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Fixed-fee, low-risk, 7-10 days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Output: workflow map, ROI estimate, risks, roadmap, sample automation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4434840" y="2423160"/>
            <a:ext cx="333756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434840" y="2423160"/>
            <a:ext cx="109728" cy="3017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4636007" y="2560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Implementation upsell</a:t>
            </a:r>
            <a:endParaRPr lang="en-US" sz="1400"/>
          </a:p>
        </p:txBody>
      </p:sp>
      <p:sp>
        <p:nvSpPr>
          <p:cNvPr id="15" name="Text 15"/>
          <p:cNvSpPr txBox="1"/>
          <p:nvPr/>
        </p:nvSpPr>
        <p:spPr>
          <a:xfrm>
            <a:off x="4654296" y="2953512"/>
            <a:ext cx="2990088" cy="23774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AI Ops Starter Pack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Build one workflow end-to-end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Output: prompt library, skill, SOP, checks, team training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8183879" y="2423160"/>
            <a:ext cx="333756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8183879" y="2423160"/>
            <a:ext cx="109728" cy="30175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385048" y="2560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Recurring service</a:t>
            </a:r>
            <a:endParaRPr lang="en-US" sz="1400"/>
          </a:p>
        </p:txBody>
      </p:sp>
      <p:sp>
        <p:nvSpPr>
          <p:cNvPr id="19" name="Text 19"/>
          <p:cNvSpPr txBox="1"/>
          <p:nvPr/>
        </p:nvSpPr>
        <p:spPr>
          <a:xfrm>
            <a:off x="8403336" y="2953512"/>
            <a:ext cx="2990088" cy="2377439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Managed AI Ops Retainer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Monthly monitoring and improvement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Output: weekly checks, new automations, governance updates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Delivery System: Build Once, Reuse Often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Your moat is not the model; it is the operating system around the model.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594360" y="1234440"/>
            <a:ext cx="27432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594360" y="1234440"/>
            <a:ext cx="109728" cy="4526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795528" y="1371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Reusable IP library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813816" y="1764792"/>
            <a:ext cx="2395728" cy="3886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Discovery questionnaire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Workflow scoring sheet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Prompt templates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AGENTS.md templates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Skill templates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Risk and approval checklist</a:t>
            </a:r>
            <a:endParaRPr lang="en-US" sz="1000"/>
          </a:p>
        </p:txBody>
      </p:sp>
      <p:sp>
        <p:nvSpPr>
          <p:cNvPr id="10" name="Shape 10"/>
          <p:cNvSpPr/>
          <p:nvPr/>
        </p:nvSpPr>
        <p:spPr>
          <a:xfrm>
            <a:off x="3611880" y="1234440"/>
            <a:ext cx="27432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3611880" y="1234440"/>
            <a:ext cx="109728" cy="4526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3813048" y="1371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Codex-powered delivery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3831336" y="1764792"/>
            <a:ext cx="2395728" cy="3886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Inspect client docs and repos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Draft SOPs and training guides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Build small scripts and validators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Create automations and review loops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Generate demos and QA checklists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6629400" y="1234440"/>
            <a:ext cx="27432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6629400" y="1234440"/>
            <a:ext cx="109728" cy="452628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6830568" y="1371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Governance layer</a:t>
            </a:r>
            <a:endParaRPr lang="en-US" sz="1400"/>
          </a:p>
        </p:txBody>
      </p:sp>
      <p:sp>
        <p:nvSpPr>
          <p:cNvPr id="17" name="Text 17"/>
          <p:cNvSpPr txBox="1"/>
          <p:nvPr/>
        </p:nvSpPr>
        <p:spPr>
          <a:xfrm>
            <a:off x="6848856" y="1764792"/>
            <a:ext cx="2395728" cy="3886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Human-in-the-loop approvals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Audit logs and rollback plans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Data exposure rules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Output verification tests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Monthly drift review</a:t>
            </a:r>
            <a:endParaRPr lang="en-US" sz="1000"/>
          </a:p>
        </p:txBody>
      </p:sp>
      <p:sp>
        <p:nvSpPr>
          <p:cNvPr id="18" name="Shape 18"/>
          <p:cNvSpPr/>
          <p:nvPr/>
        </p:nvSpPr>
        <p:spPr>
          <a:xfrm>
            <a:off x="9646920" y="1234440"/>
            <a:ext cx="201168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9646920" y="1234440"/>
            <a:ext cx="109728" cy="452628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9848088" y="13716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Scalability path</a:t>
            </a:r>
            <a:endParaRPr lang="en-US" sz="1400"/>
          </a:p>
        </p:txBody>
      </p:sp>
      <p:sp>
        <p:nvSpPr>
          <p:cNvPr id="21" name="Text 21"/>
          <p:cNvSpPr txBox="1"/>
          <p:nvPr/>
        </p:nvSpPr>
        <p:spPr>
          <a:xfrm>
            <a:off x="9866376" y="1764792"/>
            <a:ext cx="1664208" cy="3886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Standardize scopes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Hire contractors only after docs exist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License templates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Convert services into software only after repeated demand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Track delivery time per artifact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90-Day Launch Plan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Designed around daily or frequent one-hour practice plus focused business execution.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548640" y="1325880"/>
            <a:ext cx="11338560" cy="7315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585216" y="1399032"/>
            <a:ext cx="1344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Phase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2002536" y="1399032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Focus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3648456" y="1399032"/>
            <a:ext cx="5641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Actions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9363455" y="1399032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800"/>
            </a:pPr>
            <a:r>
              <a:rPr lang="en-US" sz="800" b="1">
                <a:solidFill>
                  <a:srgbClr val="FFFFFF"/>
                </a:solidFill>
              </a:rPr>
              <a:t>Target</a:t>
            </a:r>
            <a:endParaRPr lang="en-US" sz="800"/>
          </a:p>
        </p:txBody>
      </p:sp>
      <p:sp>
        <p:nvSpPr>
          <p:cNvPr id="11" name="Shape 11"/>
          <p:cNvSpPr/>
          <p:nvPr/>
        </p:nvSpPr>
        <p:spPr>
          <a:xfrm>
            <a:off x="548640" y="2057400"/>
            <a:ext cx="11338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85216" y="2121408"/>
            <a:ext cx="1344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Days 1-15</a:t>
            </a:r>
            <a:endParaRPr lang="en-US" sz="700"/>
          </a:p>
        </p:txBody>
      </p:sp>
      <p:sp>
        <p:nvSpPr>
          <p:cNvPr id="13" name="Text 13"/>
          <p:cNvSpPr txBox="1"/>
          <p:nvPr/>
        </p:nvSpPr>
        <p:spPr>
          <a:xfrm>
            <a:off x="2002536" y="2121408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Build assets</a:t>
            </a:r>
            <a:endParaRPr lang="en-US" sz="700"/>
          </a:p>
        </p:txBody>
      </p:sp>
      <p:sp>
        <p:nvSpPr>
          <p:cNvPr id="14" name="Text 14"/>
          <p:cNvSpPr txBox="1"/>
          <p:nvPr/>
        </p:nvSpPr>
        <p:spPr>
          <a:xfrm>
            <a:off x="3648456" y="2121408"/>
            <a:ext cx="5641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Audit template, scoring matrix, proposal, demo workflow, 3 outreach messages</a:t>
            </a:r>
            <a:endParaRPr lang="en-US" sz="700"/>
          </a:p>
        </p:txBody>
      </p:sp>
      <p:sp>
        <p:nvSpPr>
          <p:cNvPr id="15" name="Text 15"/>
          <p:cNvSpPr txBox="1"/>
          <p:nvPr/>
        </p:nvSpPr>
        <p:spPr>
          <a:xfrm>
            <a:off x="9363455" y="212140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5 discovery calls</a:t>
            </a:r>
            <a:endParaRPr lang="en-US" sz="700"/>
          </a:p>
        </p:txBody>
      </p:sp>
      <p:sp>
        <p:nvSpPr>
          <p:cNvPr id="16" name="Shape 16"/>
          <p:cNvSpPr/>
          <p:nvPr/>
        </p:nvSpPr>
        <p:spPr>
          <a:xfrm>
            <a:off x="548640" y="2788920"/>
            <a:ext cx="11338560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85216" y="2852927"/>
            <a:ext cx="1344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Days 16-30</a:t>
            </a:r>
            <a:endParaRPr lang="en-US" sz="700"/>
          </a:p>
        </p:txBody>
      </p:sp>
      <p:sp>
        <p:nvSpPr>
          <p:cNvPr id="18" name="Text 18"/>
          <p:cNvSpPr txBox="1"/>
          <p:nvPr/>
        </p:nvSpPr>
        <p:spPr>
          <a:xfrm>
            <a:off x="2002536" y="2852927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Sell audits</a:t>
            </a:r>
            <a:endParaRPr lang="en-US" sz="700"/>
          </a:p>
        </p:txBody>
      </p:sp>
      <p:sp>
        <p:nvSpPr>
          <p:cNvPr id="19" name="Text 19"/>
          <p:cNvSpPr txBox="1"/>
          <p:nvPr/>
        </p:nvSpPr>
        <p:spPr>
          <a:xfrm>
            <a:off x="3648456" y="2852927"/>
            <a:ext cx="5641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Publish 3 case-style posts, run 20 targeted outreaches/week, close 1 paid audit</a:t>
            </a:r>
            <a:endParaRPr lang="en-US" sz="700"/>
          </a:p>
        </p:txBody>
      </p:sp>
      <p:sp>
        <p:nvSpPr>
          <p:cNvPr id="20" name="Text 20"/>
          <p:cNvSpPr txBox="1"/>
          <p:nvPr/>
        </p:nvSpPr>
        <p:spPr>
          <a:xfrm>
            <a:off x="9363455" y="2852927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1 paid customer</a:t>
            </a:r>
            <a:endParaRPr lang="en-US" sz="700"/>
          </a:p>
        </p:txBody>
      </p:sp>
      <p:sp>
        <p:nvSpPr>
          <p:cNvPr id="21" name="Shape 21"/>
          <p:cNvSpPr/>
          <p:nvPr/>
        </p:nvSpPr>
        <p:spPr>
          <a:xfrm>
            <a:off x="548640" y="3520439"/>
            <a:ext cx="11338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85216" y="3584447"/>
            <a:ext cx="1344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Days 31-60</a:t>
            </a:r>
            <a:endParaRPr lang="en-US" sz="700"/>
          </a:p>
        </p:txBody>
      </p:sp>
      <p:sp>
        <p:nvSpPr>
          <p:cNvPr id="23" name="Text 23"/>
          <p:cNvSpPr txBox="1"/>
          <p:nvPr/>
        </p:nvSpPr>
        <p:spPr>
          <a:xfrm>
            <a:off x="2002536" y="3584447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Deliver + upsell</a:t>
            </a:r>
            <a:endParaRPr lang="en-US" sz="700"/>
          </a:p>
        </p:txBody>
      </p:sp>
      <p:sp>
        <p:nvSpPr>
          <p:cNvPr id="24" name="Text 24"/>
          <p:cNvSpPr txBox="1"/>
          <p:nvPr/>
        </p:nvSpPr>
        <p:spPr>
          <a:xfrm>
            <a:off x="3648456" y="3584447"/>
            <a:ext cx="5641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Deliver audit, build one starter workflow, package before/after proof</a:t>
            </a:r>
            <a:endParaRPr lang="en-US" sz="700"/>
          </a:p>
        </p:txBody>
      </p:sp>
      <p:sp>
        <p:nvSpPr>
          <p:cNvPr id="25" name="Text 25"/>
          <p:cNvSpPr txBox="1"/>
          <p:nvPr/>
        </p:nvSpPr>
        <p:spPr>
          <a:xfrm>
            <a:off x="9363455" y="3584447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1 implementation upsell</a:t>
            </a:r>
            <a:endParaRPr lang="en-US" sz="700"/>
          </a:p>
        </p:txBody>
      </p:sp>
      <p:sp>
        <p:nvSpPr>
          <p:cNvPr id="26" name="Shape 26"/>
          <p:cNvSpPr/>
          <p:nvPr/>
        </p:nvSpPr>
        <p:spPr>
          <a:xfrm>
            <a:off x="548640" y="4251959"/>
            <a:ext cx="11338560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585216" y="4315968"/>
            <a:ext cx="1344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Days 61-90</a:t>
            </a:r>
            <a:endParaRPr lang="en-US" sz="700"/>
          </a:p>
        </p:txBody>
      </p:sp>
      <p:sp>
        <p:nvSpPr>
          <p:cNvPr id="28" name="Text 28"/>
          <p:cNvSpPr txBox="1"/>
          <p:nvPr/>
        </p:nvSpPr>
        <p:spPr>
          <a:xfrm>
            <a:off x="2002536" y="4315968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Retainer conversion</a:t>
            </a:r>
            <a:endParaRPr lang="en-US" sz="700"/>
          </a:p>
        </p:txBody>
      </p:sp>
      <p:sp>
        <p:nvSpPr>
          <p:cNvPr id="29" name="Text 29"/>
          <p:cNvSpPr txBox="1"/>
          <p:nvPr/>
        </p:nvSpPr>
        <p:spPr>
          <a:xfrm>
            <a:off x="3648456" y="4315968"/>
            <a:ext cx="5641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Offer Managed AI Ops, schedule monthly checks, refine delivery templates</a:t>
            </a:r>
            <a:endParaRPr lang="en-US" sz="700"/>
          </a:p>
        </p:txBody>
      </p:sp>
      <p:sp>
        <p:nvSpPr>
          <p:cNvPr id="30" name="Text 30"/>
          <p:cNvSpPr txBox="1"/>
          <p:nvPr/>
        </p:nvSpPr>
        <p:spPr>
          <a:xfrm>
            <a:off x="9363455" y="431596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700"/>
            </a:pPr>
            <a:r>
              <a:rPr lang="en-US" sz="700">
                <a:solidFill>
                  <a:srgbClr val="1C1D21"/>
                </a:solidFill>
              </a:rPr>
              <a:t>1 recurring client</a:t>
            </a:r>
            <a:endParaRPr lang="en-US" sz="700"/>
          </a:p>
        </p:txBody>
      </p:sp>
      <p:sp>
        <p:nvSpPr>
          <p:cNvPr id="31" name="Text 31"/>
          <p:cNvSpPr txBox="1"/>
          <p:nvPr/>
        </p:nvSpPr>
        <p:spPr>
          <a:xfrm>
            <a:off x="777240" y="566928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200"/>
            </a:pPr>
            <a:r>
              <a:rPr lang="en-US" sz="1200" b="1">
                <a:solidFill>
                  <a:srgbClr val="14213D"/>
                </a:solidFill>
              </a:rPr>
              <a:t>Practice rule: each day, spend one hour improving Codex fluency or productizing yesterday's work. Do not let client delivery consume the learning loop.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Key Risks And Controls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B2B AI buyers pay for confidence as much as capability.</a:t>
            </a:r>
            <a:endParaRPr lang="en-US" sz="1100"/>
          </a:p>
        </p:txBody>
      </p:sp>
      <p:sp>
        <p:nvSpPr>
          <p:cNvPr id="6" name="Shape 6"/>
          <p:cNvSpPr/>
          <p:nvPr/>
        </p:nvSpPr>
        <p:spPr>
          <a:xfrm>
            <a:off x="640080" y="1234440"/>
            <a:ext cx="34747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40080" y="1234440"/>
            <a:ext cx="109728" cy="2057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41247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Risk: bespoke overload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859536" y="1764792"/>
            <a:ext cx="312724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sell fixed scopes, cap meetings, require client owner.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every custom artifact becomes template candidate.</a:t>
            </a:r>
            <a:endParaRPr lang="en-US" sz="1000"/>
          </a:p>
        </p:txBody>
      </p:sp>
      <p:sp>
        <p:nvSpPr>
          <p:cNvPr id="10" name="Shape 10"/>
          <p:cNvSpPr/>
          <p:nvPr/>
        </p:nvSpPr>
        <p:spPr>
          <a:xfrm>
            <a:off x="4343400" y="1234440"/>
            <a:ext cx="34747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4343400" y="1234440"/>
            <a:ext cx="109728" cy="20574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544568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Risk: weak ROI proof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4562856" y="1764792"/>
            <a:ext cx="312724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measure cycle time, error rate, volume, and rework before/after.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start with workflows already causing visible pain.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8046720" y="1234440"/>
            <a:ext cx="34747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8046720" y="1234440"/>
            <a:ext cx="109728" cy="20574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247888" y="137160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Risk: governance/data exposure</a:t>
            </a:r>
            <a:endParaRPr lang="en-US" sz="1400"/>
          </a:p>
        </p:txBody>
      </p:sp>
      <p:sp>
        <p:nvSpPr>
          <p:cNvPr id="17" name="Text 17"/>
          <p:cNvSpPr txBox="1"/>
          <p:nvPr/>
        </p:nvSpPr>
        <p:spPr>
          <a:xfrm>
            <a:off x="8266176" y="1764792"/>
            <a:ext cx="312724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no sensitive data in demos; use client-approved tools.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approval gates, logs, and rollback paths.</a:t>
            </a:r>
            <a:endParaRPr lang="en-US" sz="1000"/>
          </a:p>
        </p:txBody>
      </p:sp>
      <p:sp>
        <p:nvSpPr>
          <p:cNvPr id="18" name="Shape 18"/>
          <p:cNvSpPr/>
          <p:nvPr/>
        </p:nvSpPr>
        <p:spPr>
          <a:xfrm>
            <a:off x="2468880" y="3703320"/>
            <a:ext cx="34747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2468880" y="3703320"/>
            <a:ext cx="109728" cy="20574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2670048" y="384048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Risk: tool churn</a:t>
            </a:r>
            <a:endParaRPr lang="en-US" sz="1400"/>
          </a:p>
        </p:txBody>
      </p:sp>
      <p:sp>
        <p:nvSpPr>
          <p:cNvPr id="21" name="Text 21"/>
          <p:cNvSpPr txBox="1"/>
          <p:nvPr/>
        </p:nvSpPr>
        <p:spPr>
          <a:xfrm>
            <a:off x="2688336" y="4233672"/>
            <a:ext cx="312724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sell workflow outcomes, not dependency on one vendor.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keep integrations modular through MCP/connectors.</a:t>
            </a:r>
            <a:endParaRPr lang="en-US" sz="1000"/>
          </a:p>
        </p:txBody>
      </p:sp>
      <p:sp>
        <p:nvSpPr>
          <p:cNvPr id="22" name="Shape 22"/>
          <p:cNvSpPr/>
          <p:nvPr/>
        </p:nvSpPr>
        <p:spPr>
          <a:xfrm>
            <a:off x="6172200" y="3703320"/>
            <a:ext cx="34747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6172200" y="3703320"/>
            <a:ext cx="109728" cy="20574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373368" y="3840480"/>
            <a:ext cx="3154679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400"/>
            </a:pPr>
            <a:r>
              <a:rPr lang="en-US" sz="1400" b="1">
                <a:solidFill>
                  <a:srgbClr val="14213D"/>
                </a:solidFill>
              </a:rPr>
              <a:t>Risk: founder time ceiling</a:t>
            </a:r>
            <a:endParaRPr lang="en-US" sz="1400"/>
          </a:p>
        </p:txBody>
      </p:sp>
      <p:sp>
        <p:nvSpPr>
          <p:cNvPr id="25" name="Text 25"/>
          <p:cNvSpPr txBox="1"/>
          <p:nvPr/>
        </p:nvSpPr>
        <p:spPr>
          <a:xfrm>
            <a:off x="6391656" y="4233672"/>
            <a:ext cx="3127248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weekly capacity budget, productized docs, and no more than two complex builds at once.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Control: recurring services must have checklists and automation.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First 10 Concrete Experiments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Use these to find demand before building software.</a:t>
            </a:r>
            <a:endParaRPr lang="en-US" sz="1100"/>
          </a:p>
        </p:txBody>
      </p:sp>
      <p:sp>
        <p:nvSpPr>
          <p:cNvPr id="6" name="Text 6"/>
          <p:cNvSpPr txBox="1"/>
          <p:nvPr/>
        </p:nvSpPr>
        <p:spPr>
          <a:xfrm>
            <a:off x="777240" y="1234440"/>
            <a:ext cx="10744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1. Offer 5 free 30-minute AI workflow teardown calls to B2B operators.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2. Turn one teardown into a paid $1.5k audit.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3. Build a demo: Slack/email/GitHub weekly executive brief.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4. Build a demo: support ticket triage and draft response workflow.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5. Publish a one-page AI governance checklist for SMBs.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6. Create a sample AGENTS.md and skill pack for small dev teams.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7. Create before/after metric examples: cycle time, review time, rework.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8. Pitch agencies on AI reporting QA and client update automation.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9. Pitch SaaS teams on release-note/help-doc automation.</a:t>
            </a:r>
            <a:endParaRPr lang="en-US" sz="1100"/>
          </a:p>
          <a:p>
            <a:pPr algn="l">
              <a:defRPr sz="1100"/>
            </a:pPr>
            <a:r>
              <a:rPr lang="en-US" sz="1100">
                <a:solidFill>
                  <a:srgbClr val="1C1D21"/>
                </a:solidFill>
              </a:rPr>
              <a:t>10. Ask every prospect: Which workflow would you pay to never do manually again?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2600"/>
            </a:pPr>
            <a:r>
              <a:rPr lang="en-US" sz="2600" b="1">
                <a:solidFill>
                  <a:srgbClr val="14213D"/>
                </a:solidFill>
              </a:rPr>
              <a:t>Source Notes</a:t>
            </a:r>
            <a:endParaRPr lang="en-US" sz="2600"/>
          </a:p>
        </p:txBody>
      </p:sp>
      <p:sp>
        <p:nvSpPr>
          <p:cNvPr id="5" name="Text 5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100"/>
            </a:pPr>
            <a:r>
              <a:rPr lang="en-US" sz="1100">
                <a:solidFill>
                  <a:srgbClr val="5C6672"/>
                </a:solidFill>
              </a:rPr>
              <a:t>Sources used for capability and market context.</a:t>
            </a:r>
            <a:endParaRPr lang="en-US" sz="1100"/>
          </a:p>
        </p:txBody>
      </p:sp>
      <p:sp>
        <p:nvSpPr>
          <p:cNvPr id="6" name="Text 6"/>
          <p:cNvSpPr txBox="1"/>
          <p:nvPr/>
        </p:nvSpPr>
        <p:spPr>
          <a:xfrm>
            <a:off x="731520" y="1234440"/>
            <a:ext cx="10789920" cy="4389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Prior protocol document: Codex_Fluency_Protocol.docx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Video metadata/chapter outline: https://youtu.be/474wZZHoWN4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OpenAI Codex customization: https://developers.openai.com/codex/concepts/customization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OpenAI Codex skills: https://developers.openai.com/codex/skills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OpenAI Codex MCP: https://developers.openai.com/codex/mcp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OpenAI Codex automations: https://developers.openai.com/codex/app/automations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OpenAI Codex hooks/non-interactive/config docs: developers.openai.com/codex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McKinsey AI ROI coverage: https://www.businessinsider.com/mckinsey-ai-adoption-return-on-investment-analysis-enterprise-2026-5\n- IBM CIO/CTO governance survey coverage: https://www.itpro.com/technology/artificial-intelligence/cios-and-ctos-are-making-high-stakes-decisions-with-incomplete-information-ibm-survey-reveals\n- Agentic AI governance coverage: https://www.techradar.com/pro/agentic-ais-crossroads-guardrails-or-massive-fails\n- Gartner IT spend coverage: https://www.techradar.com/pro/global-ai-adoption-to-push-it-spending-beyond-usd5-4-trillion-in-2025</a:t>
            </a:r>
            <a:endParaRPr lang="en-US" sz="1000"/>
          </a:p>
          <a:p>
            <a:pPr algn="l">
              <a:defRPr sz="1000"/>
            </a:pPr>
            <a:r>
              <a:rPr lang="en-US" sz="1000">
                <a:solidFill>
                  <a:srgbClr val="1C1D21"/>
                </a:solidFill>
              </a:rPr>
              <a:t>- Business figures are planning ranges, not financial guarantees; validate with customer discovery before investing heavily.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45720" bIns="45720">
            <a:spAutoFit/>
          </a:bodyPr>
          <a:lstStyle/>
          <a:p>
            <a:pPr algn="c">
              <a:defRPr sz="1300"/>
            </a:pPr>
            <a:r>
              <a:rPr lang="en-US" sz="1300" b="1">
                <a:solidFill>
                  <a:srgbClr val="14213D"/>
                </a:solidFill>
              </a:rPr>
              <a:t>Core takeaway: build a services-led business first, use fixed products as the sales wedge, use retainers for durability, and convert every repeated workflow into reusable IP.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Business Theme">
  <a:themeElements>
    <a:clrScheme name="Codex">
      <a:dk1>
        <a:srgbClr val="14213D"/>
      </a:dk1>
      <a:lt1>
        <a:srgbClr val="FFFFFF"/>
      </a:lt1>
      <a:dk2>
        <a:srgbClr val="1C1D21"/>
      </a:dk2>
      <a:lt2>
        <a:srgbClr val="F7F9FC"/>
      </a:lt2>
      <a:accent1>
        <a:srgbClr val="2EC4B6"/>
      </a:accent1>
      <a:accent2>
        <a:srgbClr val="4361EE"/>
      </a:accent2>
      <a:accent3>
        <a:srgbClr val="FCA311"/>
      </a:accent3>
      <a:accent4>
        <a:srgbClr val="43AA8B"/>
      </a:accent4>
      <a:accent5>
        <a:srgbClr val="E76F51"/>
      </a:accent5>
      <a:accent6>
        <a:srgbClr val="5C6672"/>
      </a:accent6>
      <a:hlink>
        <a:srgbClr val="4361EE"/>
      </a:hlink>
      <a:folHlink>
        <a:srgbClr val="14213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